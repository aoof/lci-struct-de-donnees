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4" r:id="rId5"/>
    <p:sldId id="265" r:id="rId6"/>
    <p:sldId id="268" r:id="rId7"/>
    <p:sldId id="269" r:id="rId8"/>
    <p:sldId id="270" r:id="rId9"/>
    <p:sldId id="274" r:id="rId10"/>
    <p:sldId id="272" r:id="rId11"/>
    <p:sldId id="279" r:id="rId12"/>
    <p:sldId id="280" r:id="rId13"/>
    <p:sldId id="278" r:id="rId14"/>
    <p:sldId id="275" r:id="rId15"/>
    <p:sldId id="276" r:id="rId16"/>
    <p:sldId id="273" r:id="rId17"/>
    <p:sldId id="277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DF20-BBE8-99E5-B656-C7CEF7B4C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1B54D-69EC-617C-6D1C-323B6973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E403E-1FE3-BF6E-EADC-7FED17DC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307A4-6C77-3722-02BE-B4597F82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EB8F2-0555-EED8-6EAB-A0FAD39D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44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3FED-1A2E-C124-7986-F1BD88DB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1BAF5-0738-AFD0-D2D8-8A3EA381F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E5321-5711-3BF4-32C4-737E3706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9D3B7-1C11-1673-E235-49ACFE24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8F38D-170F-1155-5B08-3168FDB4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840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D0E5-048A-1A1B-A064-768B3FB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7787-A07F-9079-3592-39DCB9937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6E86-4399-4A9D-B398-C5E1FAE9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102C6-4A1F-3FFF-003F-E62CB9AF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D64FB-68DE-398B-8CEF-A52EF3A1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852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E7D3-0023-08C8-E824-DE9EB1A6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E07A-F64C-46B3-79E1-BA4E804CA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A0C81-0A38-7B6A-ACB8-E14418913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62C0-5A95-F8A6-330E-242E253E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5E744-7870-483A-EFCA-BE065064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CA339-AC97-76CE-38CD-61276375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703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6214-155A-3A9C-BCF2-45A6C281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616BA-BBC7-4D14-617A-79FADF50C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963EE-222D-CDA9-18BE-36DD47F4F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04BAC-0E99-2DEC-0188-D2027A7C2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EAF40-7A90-A5D3-FE8C-7A8013567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ECC8D-D959-B058-A4D4-06958D8E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7B84A-918E-335C-D54F-B6F61FC3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30C64-CA99-63F3-60B5-409A9E2B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378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FB0B-7C4B-BC7A-6240-7B9C5F44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52273-E496-90D4-DD6C-EF3497C5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0CA74-52F2-2E33-9763-9F1C08DC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C0AD1-94A8-4E2C-A041-59E3C615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878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358DB-E546-D081-D8A6-E74898BF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D9B93-7DB7-26BA-39E1-41C2BCEE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0B3E-4E18-B7E1-D173-EB5048F2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6464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5754-35E5-E4CC-3F2B-1EADA09C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EAA23-4C6A-7D63-C2E4-CC14AAE93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961AD-B759-3B96-8DF6-4FA5AA580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01F39-8F58-4326-276E-05B4143F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1BB3E-2732-85F5-3A37-3A294292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F95F2-8CE5-0658-773F-69CBCCE0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26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55E0-2BCA-E8DB-AB6E-99D2D03A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CB32E-6258-272F-3D21-0B82BE537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F007A-8D72-571B-7B78-4F0B67A8A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93361-A970-15E8-865F-59C037FA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9869E-D42C-38A4-BAC0-0CE6229C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0C8F1-DE8B-DD69-416F-82A1945A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0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CB3E-3EC0-E4DA-A980-2828A87C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D7C16-3387-5394-FC8D-D65C2E96C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DD80E-3B1F-7C50-0630-AAA9D652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0A36-68F9-7CC4-B14E-AE46825D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FC7D4-7AA2-EEE5-54F0-DA50F97B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25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242AC-C4E9-9871-33AA-A7E9026CC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D236C-88A1-1FCC-8B95-D43399F2E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5E304-ACE4-32D8-F0A3-1F042252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C5ECB-1603-84DB-678B-D7EA044B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1CDE-F5BF-7380-ABBB-4148DE13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023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730EA-C4F9-A6E5-FF80-7A776B52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EE1F0-8FEB-DC5D-E85B-27C1CB3E2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BBFE9-58B7-8443-D8E8-411410423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3886E-5F15-4628-BA6C-8A47E53D3F92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E6E00-B5AE-32AB-4C2A-D6AD7DA0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FC72-77A6-3BC1-FE75-1733BA3BC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40BE2-4DD1-4E8C-8CA1-E5B0EB18468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6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>
            <a:extLst>
              <a:ext uri="{FF2B5EF4-FFF2-40B4-BE49-F238E27FC236}">
                <a16:creationId xmlns:a16="http://schemas.microsoft.com/office/drawing/2014/main" id="{B4708618-0DE8-3846-2367-0BA96B7FF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2636838"/>
          </a:xfrm>
          <a:prstGeom prst="rect">
            <a:avLst/>
          </a:prstGeom>
          <a:gradFill rotWithShape="1">
            <a:gsLst>
              <a:gs pos="0">
                <a:srgbClr val="2850A0">
                  <a:alpha val="75000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E6F64A6D-8E11-DEEA-31F8-61AA0381F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3200"/>
            <a:ext cx="12187770" cy="304800"/>
          </a:xfrm>
          <a:prstGeom prst="rect">
            <a:avLst/>
          </a:prstGeom>
          <a:gradFill rotWithShape="1">
            <a:gsLst>
              <a:gs pos="0">
                <a:srgbClr val="30425E"/>
              </a:gs>
              <a:gs pos="50000">
                <a:srgbClr val="688FCC"/>
              </a:gs>
              <a:gs pos="100000">
                <a:srgbClr val="30425E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1800"/>
          </a:p>
        </p:txBody>
      </p:sp>
      <p:grpSp>
        <p:nvGrpSpPr>
          <p:cNvPr id="5124" name="Group 5">
            <a:extLst>
              <a:ext uri="{FF2B5EF4-FFF2-40B4-BE49-F238E27FC236}">
                <a16:creationId xmlns:a16="http://schemas.microsoft.com/office/drawing/2014/main" id="{F76C1B31-B256-9FCC-40B2-D35EA0455F86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1"/>
            <a:ext cx="12192000" cy="2233614"/>
            <a:chOff x="0" y="384"/>
            <a:chExt cx="5764" cy="1079"/>
          </a:xfrm>
        </p:grpSpPr>
        <p:sp>
          <p:nvSpPr>
            <p:cNvPr id="5127" name="Rectangle 6">
              <a:extLst>
                <a:ext uri="{FF2B5EF4-FFF2-40B4-BE49-F238E27FC236}">
                  <a16:creationId xmlns:a16="http://schemas.microsoft.com/office/drawing/2014/main" id="{601D88A6-82FF-0B7F-3826-A391444B9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4"/>
              <a:ext cx="5764" cy="288"/>
            </a:xfrm>
            <a:prstGeom prst="rect">
              <a:avLst/>
            </a:prstGeom>
            <a:gradFill rotWithShape="1">
              <a:gsLst>
                <a:gs pos="0">
                  <a:srgbClr val="30425E"/>
                </a:gs>
                <a:gs pos="50000">
                  <a:srgbClr val="688FCC"/>
                </a:gs>
                <a:gs pos="100000">
                  <a:srgbClr val="30425E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1800"/>
            </a:p>
          </p:txBody>
        </p:sp>
        <p:pic>
          <p:nvPicPr>
            <p:cNvPr id="5128" name="Picture 7" descr="ppoint_images">
              <a:extLst>
                <a:ext uri="{FF2B5EF4-FFF2-40B4-BE49-F238E27FC236}">
                  <a16:creationId xmlns:a16="http://schemas.microsoft.com/office/drawing/2014/main" id="{DF9BB72D-792A-F692-E7E3-82F992F731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72"/>
              <a:ext cx="5762" cy="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25" name="Rectangle 9">
            <a:extLst>
              <a:ext uri="{FF2B5EF4-FFF2-40B4-BE49-F238E27FC236}">
                <a16:creationId xmlns:a16="http://schemas.microsoft.com/office/drawing/2014/main" id="{189C8436-C640-83BC-2EF0-31092B7C0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778" y="3246439"/>
            <a:ext cx="8534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br>
              <a:rPr lang="en-US" altLang="en-US" b="1" dirty="0">
                <a:solidFill>
                  <a:srgbClr val="003399"/>
                </a:solidFill>
              </a:rPr>
            </a:br>
            <a:r>
              <a:rPr lang="en-US" altLang="en-US" sz="3600" b="1" dirty="0" err="1">
                <a:solidFill>
                  <a:srgbClr val="003399"/>
                </a:solidFill>
              </a:rPr>
              <a:t>Chaptire</a:t>
            </a:r>
            <a:r>
              <a:rPr lang="en-US" altLang="en-US" sz="3600" b="1" dirty="0">
                <a:solidFill>
                  <a:srgbClr val="003399"/>
                </a:solidFill>
              </a:rPr>
              <a:t> 0: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solidFill>
                <a:srgbClr val="003399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3600" b="1" dirty="0">
                <a:solidFill>
                  <a:srgbClr val="003399"/>
                </a:solidFill>
              </a:rPr>
              <a:t>Types de référence et types de valeur</a:t>
            </a:r>
            <a:br>
              <a:rPr lang="en-US" altLang="en-US" sz="3600" b="1" dirty="0">
                <a:solidFill>
                  <a:srgbClr val="003399"/>
                </a:solidFill>
              </a:rPr>
            </a:br>
            <a:endParaRPr lang="en-US" altLang="en-US" sz="3600" b="1" dirty="0">
              <a:solidFill>
                <a:srgbClr val="003399"/>
              </a:solidFill>
            </a:endParaRPr>
          </a:p>
        </p:txBody>
      </p:sp>
      <p:sp>
        <p:nvSpPr>
          <p:cNvPr id="5126" name="Rectangle 10">
            <a:extLst>
              <a:ext uri="{FF2B5EF4-FFF2-40B4-BE49-F238E27FC236}">
                <a16:creationId xmlns:a16="http://schemas.microsoft.com/office/drawing/2014/main" id="{071A6E75-C8FB-C5BE-D139-AFEF48062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868863"/>
            <a:ext cx="6584950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None/>
            </a:pPr>
            <a:endParaRPr lang="en-GB" altLang="en-US" sz="2400">
              <a:solidFill>
                <a:srgbClr val="003399"/>
              </a:solidFill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GB" altLang="en-US" sz="2400">
                <a:solidFill>
                  <a:srgbClr val="003399"/>
                </a:solidFill>
              </a:rPr>
              <a:t>Présenté par: Salima HASSAINE, Ph.D., M.Sc.</a:t>
            </a:r>
            <a:r>
              <a:rPr lang="en-GB" altLang="en-US" sz="1600">
                <a:solidFill>
                  <a:srgbClr val="003399"/>
                </a:solidFill>
              </a:rPr>
              <a:t>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GB" altLang="en-US" sz="1800">
                <a:solidFill>
                  <a:srgbClr val="003399"/>
                </a:solidFill>
              </a:rPr>
              <a:t>Hiver</a:t>
            </a:r>
            <a:r>
              <a:rPr lang="en-GB" altLang="en-US" sz="1800" b="1">
                <a:solidFill>
                  <a:srgbClr val="003399"/>
                </a:solidFill>
              </a:rPr>
              <a:t> 2026</a:t>
            </a:r>
            <a:endParaRPr lang="en-US" altLang="en-US" sz="1800" b="1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98928A-D4A5-E8EB-5D60-DDA1B0A7A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50977"/>
              </p:ext>
            </p:extLst>
          </p:nvPr>
        </p:nvGraphicFramePr>
        <p:xfrm>
          <a:off x="1285592" y="3256404"/>
          <a:ext cx="2888244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8244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EEF805-1E7C-A960-E019-582DA28FF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351702"/>
              </p:ext>
            </p:extLst>
          </p:nvPr>
        </p:nvGraphicFramePr>
        <p:xfrm>
          <a:off x="7136822" y="2880484"/>
          <a:ext cx="338659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0AAE74-1E23-80E4-C3BB-86CF7AF3234A}"/>
              </a:ext>
            </a:extLst>
          </p:cNvPr>
          <p:cNvSpPr txBox="1"/>
          <p:nvPr/>
        </p:nvSpPr>
        <p:spPr>
          <a:xfrm>
            <a:off x="1285591" y="3991218"/>
            <a:ext cx="2888244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A4160-2698-86BC-537F-300984596B2C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a</a:t>
            </a:r>
            <a:endParaRPr lang="en-CA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8444F-959B-E0B5-5BC0-CA83C96B8C02}"/>
              </a:ext>
            </a:extLst>
          </p:cNvPr>
          <p:cNvSpPr txBox="1"/>
          <p:nvPr/>
        </p:nvSpPr>
        <p:spPr>
          <a:xfrm>
            <a:off x="1285590" y="4726032"/>
            <a:ext cx="2888244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8449C-88B5-003A-FD27-B8C2D83C92F5}"/>
              </a:ext>
            </a:extLst>
          </p:cNvPr>
          <p:cNvSpPr txBox="1"/>
          <p:nvPr/>
        </p:nvSpPr>
        <p:spPr>
          <a:xfrm>
            <a:off x="4173835" y="471702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c1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1957A-B34E-4EBD-7F4E-68A3E8841A31}"/>
              </a:ext>
            </a:extLst>
          </p:cNvPr>
          <p:cNvSpPr txBox="1"/>
          <p:nvPr/>
        </p:nvSpPr>
        <p:spPr>
          <a:xfrm>
            <a:off x="1559815" y="1816075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int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/>
              <a:t>a</a:t>
            </a:r>
            <a:r>
              <a:rPr lang="fr-CA" sz="2400" dirty="0"/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42B7B-EEEF-786B-1890-DE8AF9E4BEF7}"/>
              </a:ext>
            </a:extLst>
          </p:cNvPr>
          <p:cNvSpPr txBox="1"/>
          <p:nvPr/>
        </p:nvSpPr>
        <p:spPr>
          <a:xfrm>
            <a:off x="1491098" y="2381166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/>
              <a:t>c1</a:t>
            </a:r>
            <a:r>
              <a:rPr lang="fr-CA" sz="2400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1FC49-0A2B-52B0-DEDD-E713B8B6B7FC}"/>
              </a:ext>
            </a:extLst>
          </p:cNvPr>
          <p:cNvSpPr txBox="1"/>
          <p:nvPr/>
        </p:nvSpPr>
        <p:spPr>
          <a:xfrm>
            <a:off x="3631254" y="204099"/>
            <a:ext cx="4929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 err="1"/>
              <a:t>Déclaration</a:t>
            </a:r>
            <a:r>
              <a:rPr lang="en-CA" sz="3200" b="1" dirty="0"/>
              <a:t> des variables</a:t>
            </a:r>
          </a:p>
        </p:txBody>
      </p:sp>
    </p:spTree>
    <p:extLst>
      <p:ext uri="{BB962C8B-B14F-4D97-AF65-F5344CB8AC3E}">
        <p14:creationId xmlns:p14="http://schemas.microsoft.com/office/powerpoint/2010/main" val="70430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2A8C-44D5-87F7-2F2E-F20F13D2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49FF34-2881-63AA-8543-F063187AA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33094"/>
              </p:ext>
            </p:extLst>
          </p:nvPr>
        </p:nvGraphicFramePr>
        <p:xfrm>
          <a:off x="1339913" y="3256404"/>
          <a:ext cx="2833923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33923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14C948-B574-DC94-D6DE-9A6A10741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938106"/>
              </p:ext>
            </p:extLst>
          </p:nvPr>
        </p:nvGraphicFramePr>
        <p:xfrm>
          <a:off x="7136822" y="2880484"/>
          <a:ext cx="338659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4AC7F6-D6E4-AB9E-7A11-AA98A8B95D01}"/>
              </a:ext>
            </a:extLst>
          </p:cNvPr>
          <p:cNvSpPr txBox="1"/>
          <p:nvPr/>
        </p:nvSpPr>
        <p:spPr>
          <a:xfrm>
            <a:off x="1339912" y="3991218"/>
            <a:ext cx="283392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42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43DF2-5018-6509-9936-C2E45EA029F8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a</a:t>
            </a:r>
            <a:endParaRPr lang="en-CA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DBEB1-8399-2B34-B5D7-CF15DDA47FC9}"/>
              </a:ext>
            </a:extLst>
          </p:cNvPr>
          <p:cNvSpPr txBox="1"/>
          <p:nvPr/>
        </p:nvSpPr>
        <p:spPr>
          <a:xfrm>
            <a:off x="1339911" y="4726032"/>
            <a:ext cx="283392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@2500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4592C-9BE7-41D3-CE45-6B40B1BDFBCE}"/>
              </a:ext>
            </a:extLst>
          </p:cNvPr>
          <p:cNvSpPr txBox="1"/>
          <p:nvPr/>
        </p:nvSpPr>
        <p:spPr>
          <a:xfrm>
            <a:off x="4173834" y="4793629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c1</a:t>
            </a:r>
            <a:endParaRPr lang="en-CA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46D2E-F5F9-C1F9-AD1C-97F1F33ABABC}"/>
              </a:ext>
            </a:extLst>
          </p:cNvPr>
          <p:cNvSpPr txBox="1"/>
          <p:nvPr/>
        </p:nvSpPr>
        <p:spPr>
          <a:xfrm>
            <a:off x="7136822" y="4726032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X = 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E7EEC-DF81-05E5-2A2F-ED5AE2A8024D}"/>
              </a:ext>
            </a:extLst>
          </p:cNvPr>
          <p:cNvSpPr txBox="1"/>
          <p:nvPr/>
        </p:nvSpPr>
        <p:spPr>
          <a:xfrm>
            <a:off x="10523414" y="471702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@2500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0241D-5ECF-D53B-5A4C-3384C75C3F4C}"/>
              </a:ext>
            </a:extLst>
          </p:cNvPr>
          <p:cNvSpPr txBox="1"/>
          <p:nvPr/>
        </p:nvSpPr>
        <p:spPr>
          <a:xfrm>
            <a:off x="1559815" y="1816075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int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/>
              <a:t>a </a:t>
            </a:r>
            <a:r>
              <a:rPr lang="fr-CA" sz="2400" dirty="0"/>
              <a:t>= 42;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A9826-F3C5-D075-2198-AE02D61DE069}"/>
              </a:ext>
            </a:extLst>
          </p:cNvPr>
          <p:cNvSpPr txBox="1"/>
          <p:nvPr/>
        </p:nvSpPr>
        <p:spPr>
          <a:xfrm>
            <a:off x="1567298" y="2375947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/>
              <a:t>c1 = </a:t>
            </a:r>
            <a:r>
              <a:rPr lang="fr-CA" sz="2400" b="1" dirty="0">
                <a:solidFill>
                  <a:srgbClr val="7030A0"/>
                </a:solidFill>
              </a:rPr>
              <a:t>new</a:t>
            </a:r>
            <a:r>
              <a:rPr lang="fr-CA" sz="2400" b="1" dirty="0"/>
              <a:t> </a:t>
            </a:r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/>
              <a:t>( )</a:t>
            </a:r>
            <a:r>
              <a:rPr lang="fr-CA" sz="2400" dirty="0"/>
              <a:t>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003E53-F81A-06EB-8898-FC41165B412D}"/>
              </a:ext>
            </a:extLst>
          </p:cNvPr>
          <p:cNvCxnSpPr>
            <a:cxnSpLocks/>
          </p:cNvCxnSpPr>
          <p:nvPr/>
        </p:nvCxnSpPr>
        <p:spPr>
          <a:xfrm flipV="1">
            <a:off x="4173834" y="4769440"/>
            <a:ext cx="2962986" cy="33198"/>
          </a:xfrm>
          <a:prstGeom prst="straightConnector1">
            <a:avLst/>
          </a:prstGeom>
          <a:ln w="571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7FB18F-DF63-B6DC-8F74-342F91C8C353}"/>
              </a:ext>
            </a:extLst>
          </p:cNvPr>
          <p:cNvSpPr txBox="1"/>
          <p:nvPr/>
        </p:nvSpPr>
        <p:spPr>
          <a:xfrm>
            <a:off x="3549790" y="-381059"/>
            <a:ext cx="50924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endParaRPr lang="en-CA" dirty="0"/>
          </a:p>
          <a:p>
            <a:r>
              <a:rPr lang="en-CA" dirty="0"/>
              <a:t>Initialisation des variables</a:t>
            </a:r>
          </a:p>
        </p:txBody>
      </p:sp>
    </p:spTree>
    <p:extLst>
      <p:ext uri="{BB962C8B-B14F-4D97-AF65-F5344CB8AC3E}">
        <p14:creationId xmlns:p14="http://schemas.microsoft.com/office/powerpoint/2010/main" val="93767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82C4-FDA7-F29D-DA6A-DE00B346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8E7B0-BA6B-A43C-ED1D-CF44849FE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67497"/>
              </p:ext>
            </p:extLst>
          </p:nvPr>
        </p:nvGraphicFramePr>
        <p:xfrm>
          <a:off x="1339912" y="3256404"/>
          <a:ext cx="2833923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33923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5020D8-80EB-747B-3041-E74F4A18D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699059"/>
              </p:ext>
            </p:extLst>
          </p:nvPr>
        </p:nvGraphicFramePr>
        <p:xfrm>
          <a:off x="7136822" y="2880484"/>
          <a:ext cx="3386593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700650-C9DE-FD0D-9DB3-7821A7168716}"/>
              </a:ext>
            </a:extLst>
          </p:cNvPr>
          <p:cNvSpPr txBox="1"/>
          <p:nvPr/>
        </p:nvSpPr>
        <p:spPr>
          <a:xfrm>
            <a:off x="1339912" y="3991218"/>
            <a:ext cx="283392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42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E1D7A-0BDB-2AA8-7B03-8F6AE441F10B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a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6F694-AA9D-F1D7-193C-478BC2F6E47C}"/>
              </a:ext>
            </a:extLst>
          </p:cNvPr>
          <p:cNvSpPr txBox="1"/>
          <p:nvPr/>
        </p:nvSpPr>
        <p:spPr>
          <a:xfrm>
            <a:off x="1339909" y="4717023"/>
            <a:ext cx="2833925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@2500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5AA5E-CF09-449A-B4EC-21E165D7F14C}"/>
              </a:ext>
            </a:extLst>
          </p:cNvPr>
          <p:cNvSpPr txBox="1"/>
          <p:nvPr/>
        </p:nvSpPr>
        <p:spPr>
          <a:xfrm>
            <a:off x="4156792" y="487295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c1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19430C-9985-A6FE-5818-48ECC0082764}"/>
              </a:ext>
            </a:extLst>
          </p:cNvPr>
          <p:cNvSpPr txBox="1"/>
          <p:nvPr/>
        </p:nvSpPr>
        <p:spPr>
          <a:xfrm>
            <a:off x="7136820" y="4717023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X = 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8A95F-CCDA-CBBE-388E-B71929B67188}"/>
              </a:ext>
            </a:extLst>
          </p:cNvPr>
          <p:cNvSpPr txBox="1"/>
          <p:nvPr/>
        </p:nvSpPr>
        <p:spPr>
          <a:xfrm>
            <a:off x="10523412" y="4523471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0000"/>
                </a:solidFill>
              </a:rPr>
              <a:t>@2500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677BD-9BB7-1EE5-262F-8FA20DE30928}"/>
              </a:ext>
            </a:extLst>
          </p:cNvPr>
          <p:cNvSpPr txBox="1"/>
          <p:nvPr/>
        </p:nvSpPr>
        <p:spPr>
          <a:xfrm>
            <a:off x="1559815" y="1816075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int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>
                <a:solidFill>
                  <a:srgbClr val="00B050"/>
                </a:solidFill>
              </a:rPr>
              <a:t>b</a:t>
            </a:r>
            <a:r>
              <a:rPr lang="fr-CA" sz="2400" b="1" dirty="0"/>
              <a:t> = </a:t>
            </a:r>
            <a:r>
              <a:rPr lang="fr-CA" sz="2400" b="1" dirty="0">
                <a:solidFill>
                  <a:srgbClr val="7030A0"/>
                </a:solidFill>
              </a:rPr>
              <a:t>a;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DA4845-4EE8-23E2-492F-76CF0C6954E9}"/>
              </a:ext>
            </a:extLst>
          </p:cNvPr>
          <p:cNvSpPr txBox="1"/>
          <p:nvPr/>
        </p:nvSpPr>
        <p:spPr>
          <a:xfrm>
            <a:off x="1567298" y="2375947"/>
            <a:ext cx="2917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>
                <a:solidFill>
                  <a:srgbClr val="00B050"/>
                </a:solidFill>
              </a:rPr>
              <a:t>c2</a:t>
            </a:r>
            <a:r>
              <a:rPr lang="fr-CA" sz="2400" b="1" dirty="0"/>
              <a:t> = </a:t>
            </a:r>
            <a:r>
              <a:rPr lang="fr-CA" sz="2400" b="1" dirty="0">
                <a:solidFill>
                  <a:srgbClr val="7030A0"/>
                </a:solidFill>
              </a:rPr>
              <a:t>c1;</a:t>
            </a:r>
            <a:endParaRPr lang="fr-CA" sz="2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8C4DC1-AFBF-32B8-42F4-A1C1CA42F07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73834" y="4901689"/>
            <a:ext cx="2962988" cy="0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2902CB-F4B5-034B-C6F7-AEA536E4775F}"/>
              </a:ext>
            </a:extLst>
          </p:cNvPr>
          <p:cNvSpPr txBox="1"/>
          <p:nvPr/>
        </p:nvSpPr>
        <p:spPr>
          <a:xfrm>
            <a:off x="4173834" y="47859"/>
            <a:ext cx="3849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 err="1"/>
              <a:t>Copie</a:t>
            </a:r>
            <a:r>
              <a:rPr lang="en-CA" sz="3200" b="1" dirty="0"/>
              <a:t> des variables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B2E8D7-2C6C-DA1C-ACD9-FDCA74627734}"/>
              </a:ext>
            </a:extLst>
          </p:cNvPr>
          <p:cNvSpPr txBox="1"/>
          <p:nvPr/>
        </p:nvSpPr>
        <p:spPr>
          <a:xfrm>
            <a:off x="1339909" y="5468288"/>
            <a:ext cx="2833925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42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AF09F-71F8-4B65-6E48-0DF8BE7E9781}"/>
              </a:ext>
            </a:extLst>
          </p:cNvPr>
          <p:cNvSpPr txBox="1"/>
          <p:nvPr/>
        </p:nvSpPr>
        <p:spPr>
          <a:xfrm>
            <a:off x="4173835" y="545953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b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BB1A3-EA52-55A5-FDF5-7C629DEB4AA2}"/>
              </a:ext>
            </a:extLst>
          </p:cNvPr>
          <p:cNvSpPr txBox="1"/>
          <p:nvPr/>
        </p:nvSpPr>
        <p:spPr>
          <a:xfrm>
            <a:off x="4105547" y="6323096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E9EB94-3590-59B8-AAA2-C65504F5F134}"/>
              </a:ext>
            </a:extLst>
          </p:cNvPr>
          <p:cNvSpPr txBox="1"/>
          <p:nvPr/>
        </p:nvSpPr>
        <p:spPr>
          <a:xfrm>
            <a:off x="1339909" y="6211496"/>
            <a:ext cx="281688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@2500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634C36-3C79-94FE-8145-78167CCA2CEC}"/>
              </a:ext>
            </a:extLst>
          </p:cNvPr>
          <p:cNvSpPr txBox="1"/>
          <p:nvPr/>
        </p:nvSpPr>
        <p:spPr>
          <a:xfrm>
            <a:off x="4139750" y="770894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35B361-7BC1-DD36-7239-70968D5B3D9F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139750" y="5101744"/>
            <a:ext cx="2997070" cy="129376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3" name="Graphic 22" descr="Warning with solid fill">
            <a:extLst>
              <a:ext uri="{FF2B5EF4-FFF2-40B4-BE49-F238E27FC236}">
                <a16:creationId xmlns:a16="http://schemas.microsoft.com/office/drawing/2014/main" id="{DE7F0D43-0CE1-307C-607D-6B05AF9F3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6846" y="2331771"/>
            <a:ext cx="449360" cy="4493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CFC0C61-53A4-3FFD-5677-010B9264D008}"/>
              </a:ext>
            </a:extLst>
          </p:cNvPr>
          <p:cNvSpPr txBox="1"/>
          <p:nvPr/>
        </p:nvSpPr>
        <p:spPr>
          <a:xfrm>
            <a:off x="4877390" y="2348279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Copie des références au lieu des valeurs</a:t>
            </a:r>
            <a:endParaRPr lang="fr-CA" sz="24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F54C95-7B9D-1A90-35A8-B5FC1D75655E}"/>
              </a:ext>
            </a:extLst>
          </p:cNvPr>
          <p:cNvSpPr txBox="1"/>
          <p:nvPr/>
        </p:nvSpPr>
        <p:spPr>
          <a:xfrm>
            <a:off x="2853524" y="1795249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CA" sz="2000" b="1" dirty="0">
                <a:solidFill>
                  <a:srgbClr val="FF0000"/>
                </a:solidFill>
              </a:rPr>
              <a:t>Copie des valeurs</a:t>
            </a:r>
            <a:endParaRPr lang="fr-C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462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A4376-E415-3546-974B-87987EA9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2C323C-577B-C53D-ACF9-88CFE7072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70036"/>
              </p:ext>
            </p:extLst>
          </p:nvPr>
        </p:nvGraphicFramePr>
        <p:xfrm>
          <a:off x="1285592" y="3256404"/>
          <a:ext cx="2888244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8244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3A9771-01E9-3201-BEF5-71843BF85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10151"/>
              </p:ext>
            </p:extLst>
          </p:nvPr>
        </p:nvGraphicFramePr>
        <p:xfrm>
          <a:off x="7136822" y="2880484"/>
          <a:ext cx="338659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63F934A-A7F3-7FC0-321E-8E625C6FE3B7}"/>
              </a:ext>
            </a:extLst>
          </p:cNvPr>
          <p:cNvSpPr txBox="1"/>
          <p:nvPr/>
        </p:nvSpPr>
        <p:spPr>
          <a:xfrm>
            <a:off x="1285591" y="3991218"/>
            <a:ext cx="2888244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42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34221-3799-2EF5-521F-32B09E86F422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a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741E4-E394-984D-8752-CBB965538063}"/>
              </a:ext>
            </a:extLst>
          </p:cNvPr>
          <p:cNvSpPr txBox="1"/>
          <p:nvPr/>
        </p:nvSpPr>
        <p:spPr>
          <a:xfrm>
            <a:off x="1285589" y="4717023"/>
            <a:ext cx="2888245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@2500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EE60F-F0F6-A53D-02D2-64DF7B85CE11}"/>
              </a:ext>
            </a:extLst>
          </p:cNvPr>
          <p:cNvSpPr txBox="1"/>
          <p:nvPr/>
        </p:nvSpPr>
        <p:spPr>
          <a:xfrm>
            <a:off x="4156792" y="487295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c1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67867-10BC-A188-497F-7C0B0BD3776E}"/>
              </a:ext>
            </a:extLst>
          </p:cNvPr>
          <p:cNvSpPr txBox="1"/>
          <p:nvPr/>
        </p:nvSpPr>
        <p:spPr>
          <a:xfrm>
            <a:off x="7136820" y="4717023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10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D5BB1-6807-B329-B442-926DE99CAF95}"/>
              </a:ext>
            </a:extLst>
          </p:cNvPr>
          <p:cNvSpPr txBox="1"/>
          <p:nvPr/>
        </p:nvSpPr>
        <p:spPr>
          <a:xfrm>
            <a:off x="10523414" y="471702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@2500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0BF6C6-4D09-0207-0217-F2565D8AD60D}"/>
              </a:ext>
            </a:extLst>
          </p:cNvPr>
          <p:cNvSpPr txBox="1"/>
          <p:nvPr/>
        </p:nvSpPr>
        <p:spPr>
          <a:xfrm>
            <a:off x="1550256" y="1606421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00B050"/>
                </a:solidFill>
              </a:rPr>
              <a:t>c2.X</a:t>
            </a:r>
            <a:r>
              <a:rPr lang="fr-CA" sz="2400" b="1" dirty="0"/>
              <a:t> = 10</a:t>
            </a:r>
            <a:r>
              <a:rPr lang="fr-CA" sz="2400" b="1" dirty="0">
                <a:solidFill>
                  <a:srgbClr val="7030A0"/>
                </a:solidFill>
              </a:rPr>
              <a:t>;              </a:t>
            </a:r>
            <a:endParaRPr lang="fr-CA" sz="2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438BDA-5978-753B-4F35-A1932F045B8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73834" y="4901689"/>
            <a:ext cx="2962988" cy="0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91751A6-0C55-D678-5F31-A85D1A1CF719}"/>
              </a:ext>
            </a:extLst>
          </p:cNvPr>
          <p:cNvSpPr txBox="1"/>
          <p:nvPr/>
        </p:nvSpPr>
        <p:spPr>
          <a:xfrm>
            <a:off x="2614245" y="103376"/>
            <a:ext cx="696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highlight>
                  <a:srgbClr val="FFFF00"/>
                </a:highlight>
              </a:rPr>
              <a:t>Problème de la copie des références</a:t>
            </a:r>
            <a:endParaRPr lang="en-CA" sz="3200" b="1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D558A-8223-84CF-A123-DF8B869B736B}"/>
              </a:ext>
            </a:extLst>
          </p:cNvPr>
          <p:cNvSpPr txBox="1"/>
          <p:nvPr/>
        </p:nvSpPr>
        <p:spPr>
          <a:xfrm>
            <a:off x="1285589" y="5468288"/>
            <a:ext cx="2888245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42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2E35D1-9ACB-469A-7B07-B8C4B3D996B0}"/>
              </a:ext>
            </a:extLst>
          </p:cNvPr>
          <p:cNvSpPr txBox="1"/>
          <p:nvPr/>
        </p:nvSpPr>
        <p:spPr>
          <a:xfrm>
            <a:off x="4173835" y="545953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b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1F993-0587-6E19-06F9-D584EE8BBD7B}"/>
              </a:ext>
            </a:extLst>
          </p:cNvPr>
          <p:cNvSpPr txBox="1"/>
          <p:nvPr/>
        </p:nvSpPr>
        <p:spPr>
          <a:xfrm>
            <a:off x="4156792" y="621447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A550E2-B0CF-BF46-E7BB-3C1C2580BC6C}"/>
              </a:ext>
            </a:extLst>
          </p:cNvPr>
          <p:cNvSpPr txBox="1"/>
          <p:nvPr/>
        </p:nvSpPr>
        <p:spPr>
          <a:xfrm>
            <a:off x="1285589" y="6211496"/>
            <a:ext cx="287120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@2500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09DFAB-C727-923D-89ED-2EA36AFE5A1A}"/>
              </a:ext>
            </a:extLst>
          </p:cNvPr>
          <p:cNvSpPr txBox="1"/>
          <p:nvPr/>
        </p:nvSpPr>
        <p:spPr>
          <a:xfrm>
            <a:off x="4139750" y="770894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FF1E28-D5B3-AA55-3166-AC5C8ADBD16A}"/>
              </a:ext>
            </a:extLst>
          </p:cNvPr>
          <p:cNvCxnSpPr>
            <a:cxnSpLocks/>
          </p:cNvCxnSpPr>
          <p:nvPr/>
        </p:nvCxnSpPr>
        <p:spPr>
          <a:xfrm flipV="1">
            <a:off x="4139750" y="5006566"/>
            <a:ext cx="2997072" cy="138894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Graphic 15" descr="Warning with solid fill">
            <a:extLst>
              <a:ext uri="{FF2B5EF4-FFF2-40B4-BE49-F238E27FC236}">
                <a16:creationId xmlns:a16="http://schemas.microsoft.com/office/drawing/2014/main" id="{0D2D2952-0751-620B-885E-555C2FE8A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1525" y="1556892"/>
            <a:ext cx="449360" cy="4493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BEB2604-8EE0-3837-7B19-A989A1FD0172}"/>
              </a:ext>
            </a:extLst>
          </p:cNvPr>
          <p:cNvSpPr txBox="1"/>
          <p:nvPr/>
        </p:nvSpPr>
        <p:spPr>
          <a:xfrm>
            <a:off x="3670885" y="1606421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La valeur X de c1 est également modifiée en 10</a:t>
            </a:r>
            <a:endParaRPr lang="fr-C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78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4146F-B5A3-7F9F-93FB-A6F774CD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9A8767-18FF-D077-4B87-AD3D68F32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987557"/>
              </p:ext>
            </p:extLst>
          </p:nvPr>
        </p:nvGraphicFramePr>
        <p:xfrm>
          <a:off x="1348966" y="3256404"/>
          <a:ext cx="2824870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24870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B6270B-72CB-88B3-8470-B9ED5889A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87878"/>
              </p:ext>
            </p:extLst>
          </p:nvPr>
        </p:nvGraphicFramePr>
        <p:xfrm>
          <a:off x="7136822" y="2880484"/>
          <a:ext cx="3386593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212B54-D0A5-9586-0790-4B2799BA1956}"/>
              </a:ext>
            </a:extLst>
          </p:cNvPr>
          <p:cNvSpPr txBox="1"/>
          <p:nvPr/>
        </p:nvSpPr>
        <p:spPr>
          <a:xfrm>
            <a:off x="1348965" y="3991218"/>
            <a:ext cx="2824870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42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7FB39-98B5-45CA-B3A9-20C4D6ED5B8B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a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6FD77-6FAA-5967-39F9-725E8FFBE758}"/>
              </a:ext>
            </a:extLst>
          </p:cNvPr>
          <p:cNvSpPr txBox="1"/>
          <p:nvPr/>
        </p:nvSpPr>
        <p:spPr>
          <a:xfrm>
            <a:off x="1348963" y="4717023"/>
            <a:ext cx="282487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@2500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C92E4-0370-2FE9-BF01-3ECFAF9AE125}"/>
              </a:ext>
            </a:extLst>
          </p:cNvPr>
          <p:cNvSpPr txBox="1"/>
          <p:nvPr/>
        </p:nvSpPr>
        <p:spPr>
          <a:xfrm>
            <a:off x="4156792" y="487295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c1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25A09-D10B-C7A5-CA53-7EF2C1B2FA44}"/>
              </a:ext>
            </a:extLst>
          </p:cNvPr>
          <p:cNvSpPr txBox="1"/>
          <p:nvPr/>
        </p:nvSpPr>
        <p:spPr>
          <a:xfrm>
            <a:off x="7136820" y="4717023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DA929F-3728-3E4F-5D05-74D649E8218C}"/>
              </a:ext>
            </a:extLst>
          </p:cNvPr>
          <p:cNvSpPr txBox="1"/>
          <p:nvPr/>
        </p:nvSpPr>
        <p:spPr>
          <a:xfrm>
            <a:off x="10523414" y="471702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@2500</a:t>
            </a:r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205CD5-E30C-0CA8-6C39-2F11A7DC5D7F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173834" y="4717023"/>
            <a:ext cx="2970999" cy="184666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503E44-7780-6B4E-FBDE-031D07FCFD2B}"/>
              </a:ext>
            </a:extLst>
          </p:cNvPr>
          <p:cNvSpPr txBox="1"/>
          <p:nvPr/>
        </p:nvSpPr>
        <p:spPr>
          <a:xfrm>
            <a:off x="2739805" y="40732"/>
            <a:ext cx="6712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highlight>
                  <a:srgbClr val="00FFFF"/>
                </a:highlight>
              </a:rPr>
              <a:t>Solution 1 : Constructeur par copie</a:t>
            </a:r>
            <a:endParaRPr lang="en-CA" sz="3200" b="1" dirty="0">
              <a:highlight>
                <a:srgbClr val="00FFFF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EC668-D966-30F5-FDE1-2D0AD064F306}"/>
              </a:ext>
            </a:extLst>
          </p:cNvPr>
          <p:cNvSpPr txBox="1"/>
          <p:nvPr/>
        </p:nvSpPr>
        <p:spPr>
          <a:xfrm>
            <a:off x="1348963" y="5468288"/>
            <a:ext cx="282487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42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35C29-394B-4E2E-3503-2E2595E28AAB}"/>
              </a:ext>
            </a:extLst>
          </p:cNvPr>
          <p:cNvSpPr txBox="1"/>
          <p:nvPr/>
        </p:nvSpPr>
        <p:spPr>
          <a:xfrm>
            <a:off x="4173835" y="545953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b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5F899-8EEA-402E-3FDF-09537E2333E2}"/>
              </a:ext>
            </a:extLst>
          </p:cNvPr>
          <p:cNvSpPr txBox="1"/>
          <p:nvPr/>
        </p:nvSpPr>
        <p:spPr>
          <a:xfrm>
            <a:off x="4095077" y="6034194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6E02C7-397A-36AD-DA17-749D093EDDDE}"/>
              </a:ext>
            </a:extLst>
          </p:cNvPr>
          <p:cNvSpPr txBox="1"/>
          <p:nvPr/>
        </p:nvSpPr>
        <p:spPr>
          <a:xfrm>
            <a:off x="1348963" y="6211496"/>
            <a:ext cx="280782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@3000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EEE043-DD07-1408-E55E-910E6926C4DD}"/>
              </a:ext>
            </a:extLst>
          </p:cNvPr>
          <p:cNvSpPr txBox="1"/>
          <p:nvPr/>
        </p:nvSpPr>
        <p:spPr>
          <a:xfrm>
            <a:off x="4139750" y="770894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74EEAA-DF58-D55A-9E65-C0C01C9E8A65}"/>
              </a:ext>
            </a:extLst>
          </p:cNvPr>
          <p:cNvCxnSpPr>
            <a:cxnSpLocks/>
          </p:cNvCxnSpPr>
          <p:nvPr/>
        </p:nvCxnSpPr>
        <p:spPr>
          <a:xfrm flipV="1">
            <a:off x="4139750" y="5872074"/>
            <a:ext cx="3005083" cy="52343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8C69D4-A336-CA02-6C45-D41DC641863D}"/>
              </a:ext>
            </a:extLst>
          </p:cNvPr>
          <p:cNvSpPr txBox="1"/>
          <p:nvPr/>
        </p:nvSpPr>
        <p:spPr>
          <a:xfrm>
            <a:off x="7127323" y="5811387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10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497B03-E1A1-2C91-49A1-23B8C079647D}"/>
              </a:ext>
            </a:extLst>
          </p:cNvPr>
          <p:cNvSpPr txBox="1"/>
          <p:nvPr/>
        </p:nvSpPr>
        <p:spPr>
          <a:xfrm>
            <a:off x="10539442" y="570124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@3000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9AC0A-C9D9-AD05-DE5B-5FDBB544424E}"/>
              </a:ext>
            </a:extLst>
          </p:cNvPr>
          <p:cNvSpPr txBox="1"/>
          <p:nvPr/>
        </p:nvSpPr>
        <p:spPr>
          <a:xfrm>
            <a:off x="1660462" y="2404449"/>
            <a:ext cx="1517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00B050"/>
                </a:solidFill>
              </a:rPr>
              <a:t>c2.X</a:t>
            </a:r>
            <a:r>
              <a:rPr lang="fr-CA" sz="2400" b="1" dirty="0"/>
              <a:t> = 10</a:t>
            </a:r>
            <a:r>
              <a:rPr lang="fr-CA" sz="2400" b="1" dirty="0">
                <a:solidFill>
                  <a:srgbClr val="7030A0"/>
                </a:solidFill>
              </a:rPr>
              <a:t>;              </a:t>
            </a:r>
            <a:endParaRPr lang="fr-CA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FD32B-872C-137B-0599-0D3B87B60777}"/>
              </a:ext>
            </a:extLst>
          </p:cNvPr>
          <p:cNvSpPr txBox="1"/>
          <p:nvPr/>
        </p:nvSpPr>
        <p:spPr>
          <a:xfrm>
            <a:off x="1660462" y="1942129"/>
            <a:ext cx="5649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>
                <a:solidFill>
                  <a:srgbClr val="00B050"/>
                </a:solidFill>
              </a:rPr>
              <a:t>c2</a:t>
            </a:r>
            <a:r>
              <a:rPr lang="fr-CA" sz="2400" b="1" dirty="0"/>
              <a:t> = </a:t>
            </a:r>
            <a:r>
              <a:rPr lang="fr-CA" sz="2400" b="1" dirty="0">
                <a:solidFill>
                  <a:srgbClr val="7030A0"/>
                </a:solidFill>
              </a:rPr>
              <a:t>new </a:t>
            </a:r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(</a:t>
            </a:r>
            <a:r>
              <a:rPr lang="fr-CA" sz="2400" b="1" dirty="0">
                <a:solidFill>
                  <a:srgbClr val="7030A0"/>
                </a:solidFill>
              </a:rPr>
              <a:t> c1 </a:t>
            </a:r>
            <a:r>
              <a:rPr lang="fr-CA" sz="2400" b="1" dirty="0">
                <a:solidFill>
                  <a:srgbClr val="0070C0"/>
                </a:solidFill>
              </a:rPr>
              <a:t>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15DB62-72CA-35B0-5D32-FB14E473D23B}"/>
              </a:ext>
            </a:extLst>
          </p:cNvPr>
          <p:cNvSpPr txBox="1"/>
          <p:nvPr/>
        </p:nvSpPr>
        <p:spPr>
          <a:xfrm>
            <a:off x="3145784" y="2395440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La valeur X de c1 n’est pas modifiée en 10</a:t>
            </a:r>
            <a:endParaRPr lang="fr-C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08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7A040-D631-01E4-9722-F3BAF631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6BCA7B-EC32-47AE-7010-D134F670E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47334"/>
              </p:ext>
            </p:extLst>
          </p:nvPr>
        </p:nvGraphicFramePr>
        <p:xfrm>
          <a:off x="1348966" y="3256404"/>
          <a:ext cx="2824869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24869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88CF63-75DD-81CF-A2D6-271CD6CD3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728338"/>
              </p:ext>
            </p:extLst>
          </p:nvPr>
        </p:nvGraphicFramePr>
        <p:xfrm>
          <a:off x="7136822" y="2880484"/>
          <a:ext cx="3386593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07530F-B492-0B9F-F23F-94185852C43F}"/>
              </a:ext>
            </a:extLst>
          </p:cNvPr>
          <p:cNvSpPr txBox="1"/>
          <p:nvPr/>
        </p:nvSpPr>
        <p:spPr>
          <a:xfrm>
            <a:off x="1348966" y="3991218"/>
            <a:ext cx="282486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42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FC38E-FD5D-7093-ACBD-4ED7A0595412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a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ED729-3B2B-49B9-02A9-C7C3ABB24351}"/>
              </a:ext>
            </a:extLst>
          </p:cNvPr>
          <p:cNvSpPr txBox="1"/>
          <p:nvPr/>
        </p:nvSpPr>
        <p:spPr>
          <a:xfrm>
            <a:off x="1348963" y="4717023"/>
            <a:ext cx="282487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@2500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6EF79-92A0-C391-047F-2DF529045C13}"/>
              </a:ext>
            </a:extLst>
          </p:cNvPr>
          <p:cNvSpPr txBox="1"/>
          <p:nvPr/>
        </p:nvSpPr>
        <p:spPr>
          <a:xfrm>
            <a:off x="4156792" y="487295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c1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DBE5C-C48C-C292-2D6B-ECA18D8F18DB}"/>
              </a:ext>
            </a:extLst>
          </p:cNvPr>
          <p:cNvSpPr txBox="1"/>
          <p:nvPr/>
        </p:nvSpPr>
        <p:spPr>
          <a:xfrm>
            <a:off x="7136820" y="4717023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96C4F-B8AE-8E71-4F0D-3A5D0067FF29}"/>
              </a:ext>
            </a:extLst>
          </p:cNvPr>
          <p:cNvSpPr txBox="1"/>
          <p:nvPr/>
        </p:nvSpPr>
        <p:spPr>
          <a:xfrm>
            <a:off x="10523414" y="471702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@2500</a:t>
            </a:r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33BFD7-D9EA-1C7D-96B8-B833E9064F2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73834" y="4901689"/>
            <a:ext cx="2962988" cy="0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4FE6772-4FBF-5551-E9B1-E1D72935A0C3}"/>
              </a:ext>
            </a:extLst>
          </p:cNvPr>
          <p:cNvSpPr txBox="1"/>
          <p:nvPr/>
        </p:nvSpPr>
        <p:spPr>
          <a:xfrm>
            <a:off x="3047246" y="87207"/>
            <a:ext cx="609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highlight>
                  <a:srgbClr val="00FFFF"/>
                </a:highlight>
              </a:rPr>
              <a:t>Solution 2 : Méthode du clonage</a:t>
            </a:r>
            <a:endParaRPr lang="en-CA" sz="3200" b="1" dirty="0">
              <a:highlight>
                <a:srgbClr val="00FFFF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6CB94-DEED-2779-147E-57F1BBA9248D}"/>
              </a:ext>
            </a:extLst>
          </p:cNvPr>
          <p:cNvSpPr txBox="1"/>
          <p:nvPr/>
        </p:nvSpPr>
        <p:spPr>
          <a:xfrm>
            <a:off x="1348963" y="5468288"/>
            <a:ext cx="282487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42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EF620-0541-7EBF-5711-ABAF64DE2343}"/>
              </a:ext>
            </a:extLst>
          </p:cNvPr>
          <p:cNvSpPr txBox="1"/>
          <p:nvPr/>
        </p:nvSpPr>
        <p:spPr>
          <a:xfrm>
            <a:off x="4173835" y="545953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b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E7726E-A4C0-F5C8-39EE-5BAABE38FBBE}"/>
              </a:ext>
            </a:extLst>
          </p:cNvPr>
          <p:cNvSpPr txBox="1"/>
          <p:nvPr/>
        </p:nvSpPr>
        <p:spPr>
          <a:xfrm>
            <a:off x="4095077" y="6034194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3344E5-E36B-3938-7F1F-F7A7BEE6DF5D}"/>
              </a:ext>
            </a:extLst>
          </p:cNvPr>
          <p:cNvSpPr txBox="1"/>
          <p:nvPr/>
        </p:nvSpPr>
        <p:spPr>
          <a:xfrm>
            <a:off x="1348963" y="6211496"/>
            <a:ext cx="280782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@3000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FB86A-BE0A-9325-BCE3-EA253EE6854A}"/>
              </a:ext>
            </a:extLst>
          </p:cNvPr>
          <p:cNvSpPr txBox="1"/>
          <p:nvPr/>
        </p:nvSpPr>
        <p:spPr>
          <a:xfrm>
            <a:off x="4139750" y="770894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F33FDB-3092-5581-86A9-579EB55E51E2}"/>
              </a:ext>
            </a:extLst>
          </p:cNvPr>
          <p:cNvCxnSpPr>
            <a:cxnSpLocks/>
          </p:cNvCxnSpPr>
          <p:nvPr/>
        </p:nvCxnSpPr>
        <p:spPr>
          <a:xfrm flipV="1">
            <a:off x="4139750" y="5872074"/>
            <a:ext cx="3005083" cy="52343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A9600BC-02E1-F015-A642-EA587C4EC181}"/>
              </a:ext>
            </a:extLst>
          </p:cNvPr>
          <p:cNvSpPr txBox="1"/>
          <p:nvPr/>
        </p:nvSpPr>
        <p:spPr>
          <a:xfrm>
            <a:off x="7119778" y="5811387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10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DD9FDC-457B-A230-60B0-BBEB1198B642}"/>
              </a:ext>
            </a:extLst>
          </p:cNvPr>
          <p:cNvSpPr txBox="1"/>
          <p:nvPr/>
        </p:nvSpPr>
        <p:spPr>
          <a:xfrm>
            <a:off x="10539442" y="570124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@3000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F70A6-3396-DCA4-47A6-0E26C778B47C}"/>
              </a:ext>
            </a:extLst>
          </p:cNvPr>
          <p:cNvSpPr txBox="1"/>
          <p:nvPr/>
        </p:nvSpPr>
        <p:spPr>
          <a:xfrm>
            <a:off x="1660462" y="2404449"/>
            <a:ext cx="1517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00B050"/>
                </a:solidFill>
              </a:rPr>
              <a:t>c2.X</a:t>
            </a:r>
            <a:r>
              <a:rPr lang="fr-CA" sz="2400" b="1" dirty="0"/>
              <a:t> = 10</a:t>
            </a:r>
            <a:r>
              <a:rPr lang="fr-CA" sz="2400" b="1" dirty="0">
                <a:solidFill>
                  <a:srgbClr val="7030A0"/>
                </a:solidFill>
              </a:rPr>
              <a:t>;              </a:t>
            </a:r>
            <a:endParaRPr lang="fr-CA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593108-30FB-C7BF-57AB-D675BE68B397}"/>
              </a:ext>
            </a:extLst>
          </p:cNvPr>
          <p:cNvSpPr txBox="1"/>
          <p:nvPr/>
        </p:nvSpPr>
        <p:spPr>
          <a:xfrm>
            <a:off x="1660462" y="1942129"/>
            <a:ext cx="5649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>
                <a:solidFill>
                  <a:srgbClr val="00B050"/>
                </a:solidFill>
              </a:rPr>
              <a:t>c2</a:t>
            </a:r>
            <a:r>
              <a:rPr lang="fr-CA" sz="2400" b="1" dirty="0"/>
              <a:t> = </a:t>
            </a:r>
            <a:r>
              <a:rPr lang="fr-CA" sz="2400" b="1" dirty="0">
                <a:solidFill>
                  <a:srgbClr val="7030A0"/>
                </a:solidFill>
              </a:rPr>
              <a:t>c1.</a:t>
            </a:r>
            <a:r>
              <a:rPr lang="fr-CA" sz="2400" b="1" dirty="0">
                <a:solidFill>
                  <a:srgbClr val="0070C0"/>
                </a:solidFill>
              </a:rPr>
              <a:t>Clone( 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F38BE4-3CAE-66E6-9FB3-234EDDEB0736}"/>
              </a:ext>
            </a:extLst>
          </p:cNvPr>
          <p:cNvSpPr txBox="1"/>
          <p:nvPr/>
        </p:nvSpPr>
        <p:spPr>
          <a:xfrm>
            <a:off x="3145784" y="2395440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La valeur X de c1 n’est pas modifiée en 10</a:t>
            </a:r>
            <a:endParaRPr lang="fr-C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946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AFA8-901A-E909-90BF-2D2ACCF9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1943F5-5FEC-6C20-FE68-ABF1D728C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970069"/>
              </p:ext>
            </p:extLst>
          </p:nvPr>
        </p:nvGraphicFramePr>
        <p:xfrm>
          <a:off x="1321806" y="3256404"/>
          <a:ext cx="2852031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52031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CAAA0E-0ACB-1E07-81AF-A143BFD0E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315983"/>
              </p:ext>
            </p:extLst>
          </p:nvPr>
        </p:nvGraphicFramePr>
        <p:xfrm>
          <a:off x="7136822" y="2880484"/>
          <a:ext cx="3386593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13D570-1E6A-1AF4-5A50-B5A0BEB3985B}"/>
              </a:ext>
            </a:extLst>
          </p:cNvPr>
          <p:cNvSpPr txBox="1"/>
          <p:nvPr/>
        </p:nvSpPr>
        <p:spPr>
          <a:xfrm>
            <a:off x="1321804" y="3991218"/>
            <a:ext cx="285203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42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617C9-B61E-EB1C-483C-87D4E05B7B7F}"/>
              </a:ext>
            </a:extLst>
          </p:cNvPr>
          <p:cNvSpPr txBox="1"/>
          <p:nvPr/>
        </p:nvSpPr>
        <p:spPr>
          <a:xfrm>
            <a:off x="4173835" y="40002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a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E5057-D5C1-E263-53B5-3FEF40D4FC65}"/>
              </a:ext>
            </a:extLst>
          </p:cNvPr>
          <p:cNvSpPr txBox="1"/>
          <p:nvPr/>
        </p:nvSpPr>
        <p:spPr>
          <a:xfrm>
            <a:off x="1321803" y="4717023"/>
            <a:ext cx="285203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@2500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80A50-E09C-6A10-5381-64EDB2A3E3EA}"/>
              </a:ext>
            </a:extLst>
          </p:cNvPr>
          <p:cNvSpPr txBox="1"/>
          <p:nvPr/>
        </p:nvSpPr>
        <p:spPr>
          <a:xfrm>
            <a:off x="4156792" y="487295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c1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1FFBE-0B11-AA83-0F58-6B49A5D4A6FD}"/>
              </a:ext>
            </a:extLst>
          </p:cNvPr>
          <p:cNvSpPr txBox="1"/>
          <p:nvPr/>
        </p:nvSpPr>
        <p:spPr>
          <a:xfrm>
            <a:off x="7136820" y="4717023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945EF-38AE-794E-9FD4-6A97AA47F331}"/>
              </a:ext>
            </a:extLst>
          </p:cNvPr>
          <p:cNvSpPr txBox="1"/>
          <p:nvPr/>
        </p:nvSpPr>
        <p:spPr>
          <a:xfrm>
            <a:off x="10523414" y="471702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@2500</a:t>
            </a:r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CB3B01-FF54-3FA4-CB5A-07F47395510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173834" y="4901689"/>
            <a:ext cx="2962988" cy="0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4FA94-AC45-2D84-4559-455D6A1B5A5B}"/>
              </a:ext>
            </a:extLst>
          </p:cNvPr>
          <p:cNvSpPr txBox="1"/>
          <p:nvPr/>
        </p:nvSpPr>
        <p:spPr>
          <a:xfrm>
            <a:off x="912844" y="-80926"/>
            <a:ext cx="1036631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  <a:p>
            <a:r>
              <a:rPr lang="en-CA" sz="3200" b="1" dirty="0">
                <a:highlight>
                  <a:srgbClr val="00FFFF"/>
                </a:highlight>
              </a:rPr>
              <a:t>Solution 3 : </a:t>
            </a:r>
            <a:r>
              <a:rPr lang="en-CA" sz="3200" b="1" dirty="0" err="1">
                <a:highlight>
                  <a:srgbClr val="00FFFF"/>
                </a:highlight>
              </a:rPr>
              <a:t>Méthode</a:t>
            </a:r>
            <a:r>
              <a:rPr lang="en-CA" sz="3200" b="1" dirty="0">
                <a:highlight>
                  <a:srgbClr val="00FFFF"/>
                </a:highlight>
              </a:rPr>
              <a:t> de </a:t>
            </a:r>
            <a:r>
              <a:rPr lang="en-CA" sz="3200" b="1" dirty="0" err="1">
                <a:highlight>
                  <a:srgbClr val="00FFFF"/>
                </a:highlight>
              </a:rPr>
              <a:t>copie</a:t>
            </a:r>
            <a:r>
              <a:rPr lang="en-CA" sz="3200" b="1" dirty="0">
                <a:highlight>
                  <a:srgbClr val="00FFFF"/>
                </a:highlight>
              </a:rPr>
              <a:t> profonde </a:t>
            </a:r>
            <a:r>
              <a:rPr lang="en-CA" sz="3200" dirty="0">
                <a:highlight>
                  <a:srgbClr val="00FFFF"/>
                </a:highlight>
              </a:rPr>
              <a:t>(</a:t>
            </a:r>
            <a:r>
              <a:rPr lang="en-CA" sz="3200" b="1" dirty="0" err="1">
                <a:highlight>
                  <a:srgbClr val="00FFFF"/>
                </a:highlight>
              </a:rPr>
              <a:t>DeepCopy</a:t>
            </a:r>
            <a:r>
              <a:rPr lang="en-CA" sz="3200" b="1" dirty="0">
                <a:highlight>
                  <a:srgbClr val="00FFFF"/>
                </a:highlight>
              </a:rPr>
              <a:t>) </a:t>
            </a:r>
            <a:endParaRPr lang="en-CA" sz="3200" dirty="0">
              <a:highlight>
                <a:srgbClr val="00FFFF"/>
              </a:highlight>
            </a:endParaRPr>
          </a:p>
          <a:p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B377E-5511-CF31-C23B-6D55DDF79580}"/>
              </a:ext>
            </a:extLst>
          </p:cNvPr>
          <p:cNvSpPr txBox="1"/>
          <p:nvPr/>
        </p:nvSpPr>
        <p:spPr>
          <a:xfrm>
            <a:off x="1321803" y="5468288"/>
            <a:ext cx="285203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42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DAAC3-5E7A-5E25-1CB8-DB8955184F1B}"/>
              </a:ext>
            </a:extLst>
          </p:cNvPr>
          <p:cNvSpPr txBox="1"/>
          <p:nvPr/>
        </p:nvSpPr>
        <p:spPr>
          <a:xfrm>
            <a:off x="4173835" y="545953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b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049EE4-AA50-2D34-8EE0-252C61E3B1E8}"/>
              </a:ext>
            </a:extLst>
          </p:cNvPr>
          <p:cNvSpPr txBox="1"/>
          <p:nvPr/>
        </p:nvSpPr>
        <p:spPr>
          <a:xfrm>
            <a:off x="4095077" y="6034194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001C5-FE81-0986-6C24-94BD2555D1B2}"/>
              </a:ext>
            </a:extLst>
          </p:cNvPr>
          <p:cNvSpPr txBox="1"/>
          <p:nvPr/>
        </p:nvSpPr>
        <p:spPr>
          <a:xfrm>
            <a:off x="1329819" y="6211496"/>
            <a:ext cx="285203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@3000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BECE2E-DBA8-999F-0827-F5762338D460}"/>
              </a:ext>
            </a:extLst>
          </p:cNvPr>
          <p:cNvSpPr txBox="1"/>
          <p:nvPr/>
        </p:nvSpPr>
        <p:spPr>
          <a:xfrm>
            <a:off x="4139750" y="770894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c2</a:t>
            </a:r>
            <a:endParaRPr lang="en-CA" b="1" dirty="0">
              <a:solidFill>
                <a:srgbClr val="00B05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28D129-BEEC-49B9-EB49-6C3E80AB9BC6}"/>
              </a:ext>
            </a:extLst>
          </p:cNvPr>
          <p:cNvCxnSpPr>
            <a:cxnSpLocks/>
          </p:cNvCxnSpPr>
          <p:nvPr/>
        </p:nvCxnSpPr>
        <p:spPr>
          <a:xfrm flipV="1">
            <a:off x="4139750" y="5872074"/>
            <a:ext cx="3005083" cy="52343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337072-C92D-2D2B-3D3F-5F88A333F7BF}"/>
              </a:ext>
            </a:extLst>
          </p:cNvPr>
          <p:cNvSpPr txBox="1"/>
          <p:nvPr/>
        </p:nvSpPr>
        <p:spPr>
          <a:xfrm>
            <a:off x="7127323" y="5811387"/>
            <a:ext cx="3386592" cy="769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  <a:highlight>
                  <a:srgbClr val="FFFF00"/>
                </a:highlight>
              </a:rPr>
              <a:t>X = 0</a:t>
            </a:r>
          </a:p>
          <a:p>
            <a:pPr algn="ctr"/>
            <a:endParaRPr lang="fr-CA" sz="700" b="1" dirty="0">
              <a:solidFill>
                <a:srgbClr val="FF0000"/>
              </a:solidFill>
            </a:endParaRPr>
          </a:p>
          <a:p>
            <a:pPr algn="ctr"/>
            <a:r>
              <a:rPr lang="fr-CA" b="1" dirty="0">
                <a:solidFill>
                  <a:srgbClr val="FF0000"/>
                </a:solidFill>
              </a:rPr>
              <a:t>Y =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9C1C80-EEA2-BB79-B227-122AFD3E4FB4}"/>
              </a:ext>
            </a:extLst>
          </p:cNvPr>
          <p:cNvSpPr txBox="1"/>
          <p:nvPr/>
        </p:nvSpPr>
        <p:spPr>
          <a:xfrm>
            <a:off x="10539442" y="570124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@3000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49384-9B0A-A106-A5FA-61F5EBB172E9}"/>
              </a:ext>
            </a:extLst>
          </p:cNvPr>
          <p:cNvSpPr txBox="1"/>
          <p:nvPr/>
        </p:nvSpPr>
        <p:spPr>
          <a:xfrm>
            <a:off x="1660462" y="2404449"/>
            <a:ext cx="1517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00B050"/>
                </a:solidFill>
              </a:rPr>
              <a:t>c2.X</a:t>
            </a:r>
            <a:r>
              <a:rPr lang="fr-CA" sz="2400" b="1" dirty="0"/>
              <a:t> = 10</a:t>
            </a:r>
            <a:r>
              <a:rPr lang="fr-CA" sz="2400" b="1" dirty="0">
                <a:solidFill>
                  <a:srgbClr val="7030A0"/>
                </a:solidFill>
              </a:rPr>
              <a:t>;              </a:t>
            </a:r>
            <a:endParaRPr lang="fr-CA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BF44A8-FB1A-7389-8EF7-A0B65089FD2A}"/>
              </a:ext>
            </a:extLst>
          </p:cNvPr>
          <p:cNvSpPr txBox="1"/>
          <p:nvPr/>
        </p:nvSpPr>
        <p:spPr>
          <a:xfrm>
            <a:off x="1660462" y="1942129"/>
            <a:ext cx="5649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fr-CA" sz="2400" b="1" dirty="0">
                <a:solidFill>
                  <a:srgbClr val="0070C0"/>
                </a:solidFill>
              </a:rPr>
              <a:t> </a:t>
            </a:r>
            <a:r>
              <a:rPr lang="fr-CA" sz="2400" b="1" dirty="0">
                <a:solidFill>
                  <a:srgbClr val="00B050"/>
                </a:solidFill>
              </a:rPr>
              <a:t>c2</a:t>
            </a:r>
            <a:r>
              <a:rPr lang="fr-CA" sz="2400" b="1" dirty="0"/>
              <a:t> = </a:t>
            </a:r>
            <a:r>
              <a:rPr lang="fr-CA" sz="2400" b="1" dirty="0">
                <a:solidFill>
                  <a:srgbClr val="7030A0"/>
                </a:solidFill>
              </a:rPr>
              <a:t>c1.</a:t>
            </a:r>
            <a:r>
              <a:rPr lang="fr-CA" sz="2400" b="1" dirty="0">
                <a:solidFill>
                  <a:srgbClr val="0070C0"/>
                </a:solidFill>
              </a:rPr>
              <a:t>DeepCopy( 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4C500-CF62-AD24-641A-31E875E5E239}"/>
              </a:ext>
            </a:extLst>
          </p:cNvPr>
          <p:cNvSpPr txBox="1"/>
          <p:nvPr/>
        </p:nvSpPr>
        <p:spPr>
          <a:xfrm>
            <a:off x="3145784" y="2395440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La valeur X de c1 n’est pas modifiée en 10</a:t>
            </a:r>
            <a:endParaRPr lang="fr-C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30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AD98-D12D-5C3D-A826-405A4F66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4B00E1-5D4C-5856-A9B8-845C7A982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770354"/>
              </p:ext>
            </p:extLst>
          </p:nvPr>
        </p:nvGraphicFramePr>
        <p:xfrm>
          <a:off x="1285592" y="3256404"/>
          <a:ext cx="2888244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8244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245D7A-6D7E-1653-7219-1BDB4BBF4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103846"/>
              </p:ext>
            </p:extLst>
          </p:nvPr>
        </p:nvGraphicFramePr>
        <p:xfrm>
          <a:off x="7136822" y="2880484"/>
          <a:ext cx="338659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A657D9-65FC-DB94-337E-D5779E31C489}"/>
              </a:ext>
            </a:extLst>
          </p:cNvPr>
          <p:cNvSpPr txBox="1"/>
          <p:nvPr/>
        </p:nvSpPr>
        <p:spPr>
          <a:xfrm>
            <a:off x="1285591" y="3991218"/>
            <a:ext cx="2888244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NULL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9E6FB-DCB0-B35C-648B-2E8CAFF1B50A}"/>
              </a:ext>
            </a:extLst>
          </p:cNvPr>
          <p:cNvSpPr txBox="1"/>
          <p:nvPr/>
        </p:nvSpPr>
        <p:spPr>
          <a:xfrm>
            <a:off x="4173835" y="4000227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myArray1</a:t>
            </a:r>
            <a:endParaRPr lang="en-CA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79376-74A3-27FB-2A42-3B02C3B131A9}"/>
              </a:ext>
            </a:extLst>
          </p:cNvPr>
          <p:cNvSpPr txBox="1"/>
          <p:nvPr/>
        </p:nvSpPr>
        <p:spPr>
          <a:xfrm>
            <a:off x="1285591" y="4717023"/>
            <a:ext cx="2880760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D0DC5-13A7-6F6A-8812-DC9A0766689D}"/>
              </a:ext>
            </a:extLst>
          </p:cNvPr>
          <p:cNvSpPr txBox="1"/>
          <p:nvPr/>
        </p:nvSpPr>
        <p:spPr>
          <a:xfrm>
            <a:off x="4173835" y="4717023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myArray2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D3D01-6551-4C7F-0ED6-783E15749D29}"/>
              </a:ext>
            </a:extLst>
          </p:cNvPr>
          <p:cNvSpPr txBox="1"/>
          <p:nvPr/>
        </p:nvSpPr>
        <p:spPr>
          <a:xfrm>
            <a:off x="1491098" y="1745769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0070C0"/>
                </a:solidFill>
              </a:rPr>
              <a:t>Int</a:t>
            </a:r>
            <a:r>
              <a:rPr lang="fr-CA" sz="2400" b="1" dirty="0"/>
              <a:t>[] myArray1</a:t>
            </a:r>
            <a:r>
              <a:rPr lang="fr-CA" sz="2400" dirty="0"/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EE8C6-9BFC-A422-0A7D-32F1CE205336}"/>
              </a:ext>
            </a:extLst>
          </p:cNvPr>
          <p:cNvSpPr txBox="1"/>
          <p:nvPr/>
        </p:nvSpPr>
        <p:spPr>
          <a:xfrm>
            <a:off x="1491098" y="2381166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rgbClr val="0070C0"/>
                </a:solidFill>
              </a:rPr>
              <a:t>Coordinate</a:t>
            </a:r>
            <a:r>
              <a:rPr lang="en-CA" sz="2400" b="1" dirty="0"/>
              <a:t>[]</a:t>
            </a:r>
            <a:r>
              <a:rPr lang="fr-CA" sz="2400" b="1" dirty="0"/>
              <a:t> myArray2</a:t>
            </a:r>
            <a:r>
              <a:rPr lang="fr-CA" sz="2400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D8C130-6EEE-23A2-0EFA-735B44B39ACC}"/>
              </a:ext>
            </a:extLst>
          </p:cNvPr>
          <p:cNvSpPr txBox="1"/>
          <p:nvPr/>
        </p:nvSpPr>
        <p:spPr>
          <a:xfrm>
            <a:off x="3704479" y="82913"/>
            <a:ext cx="4783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 err="1"/>
              <a:t>Déclaration</a:t>
            </a:r>
            <a:r>
              <a:rPr lang="en-CA" sz="3200" b="1" dirty="0"/>
              <a:t> d’un tableau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05948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3A74FF-F44C-948B-8CA8-B271D0479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276347"/>
              </p:ext>
            </p:extLst>
          </p:nvPr>
        </p:nvGraphicFramePr>
        <p:xfrm>
          <a:off x="2498756" y="4168560"/>
          <a:ext cx="2871896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71896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E97DFA-7603-F0FC-4BAB-8739CD896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24496"/>
              </p:ext>
            </p:extLst>
          </p:nvPr>
        </p:nvGraphicFramePr>
        <p:xfrm>
          <a:off x="7734589" y="2595285"/>
          <a:ext cx="3386593" cy="308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8581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380531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99711F-6FD5-34A6-CDF8-23CDB9161B44}"/>
              </a:ext>
            </a:extLst>
          </p:cNvPr>
          <p:cNvSpPr txBox="1"/>
          <p:nvPr/>
        </p:nvSpPr>
        <p:spPr>
          <a:xfrm>
            <a:off x="1334384" y="4593191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myArray1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FA487-972A-EFFE-BCA8-3F74806EF253}"/>
              </a:ext>
            </a:extLst>
          </p:cNvPr>
          <p:cNvSpPr txBox="1"/>
          <p:nvPr/>
        </p:nvSpPr>
        <p:spPr>
          <a:xfrm>
            <a:off x="7726575" y="3312246"/>
            <a:ext cx="3386592" cy="126188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2000" b="1" dirty="0">
                <a:highlight>
                  <a:srgbClr val="FFFF00"/>
                </a:highlight>
              </a:rPr>
              <a:t>0</a:t>
            </a:r>
            <a:endParaRPr lang="en-CA" sz="2000" b="1" dirty="0">
              <a:highlight>
                <a:srgbClr val="FFFF00"/>
              </a:highlight>
            </a:endParaRPr>
          </a:p>
          <a:p>
            <a:pPr algn="ctr"/>
            <a:endParaRPr lang="fr-CA" sz="800" b="1" dirty="0"/>
          </a:p>
          <a:p>
            <a:pPr algn="ctr"/>
            <a:r>
              <a:rPr lang="fr-CA" sz="2000" b="1" dirty="0">
                <a:highlight>
                  <a:srgbClr val="00FFFF"/>
                </a:highlight>
              </a:rPr>
              <a:t>1</a:t>
            </a:r>
          </a:p>
          <a:p>
            <a:pPr algn="ctr"/>
            <a:endParaRPr lang="fr-CA" sz="800" b="1" dirty="0"/>
          </a:p>
          <a:p>
            <a:pPr algn="ctr"/>
            <a:r>
              <a:rPr lang="fr-CA" sz="2000" b="1" dirty="0">
                <a:highlight>
                  <a:srgbClr val="00FF00"/>
                </a:highlight>
              </a:rPr>
              <a:t>2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939D4-8690-D66F-7650-8ED12869EAE9}"/>
              </a:ext>
            </a:extLst>
          </p:cNvPr>
          <p:cNvSpPr txBox="1"/>
          <p:nvPr/>
        </p:nvSpPr>
        <p:spPr>
          <a:xfrm>
            <a:off x="11073098" y="3209525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5FDFAB-7814-3EAE-BC53-280DBE1C373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377626" y="3312246"/>
            <a:ext cx="2363938" cy="1424112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A27E914-2006-4F18-8FB4-53203F5B0736}"/>
              </a:ext>
            </a:extLst>
          </p:cNvPr>
          <p:cNvSpPr txBox="1"/>
          <p:nvPr/>
        </p:nvSpPr>
        <p:spPr>
          <a:xfrm>
            <a:off x="2505730" y="4551692"/>
            <a:ext cx="2871896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FC0EE-246A-2679-83F4-CB1870FB08C8}"/>
              </a:ext>
            </a:extLst>
          </p:cNvPr>
          <p:cNvSpPr txBox="1"/>
          <p:nvPr/>
        </p:nvSpPr>
        <p:spPr>
          <a:xfrm>
            <a:off x="2681453" y="129128"/>
            <a:ext cx="8515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Initialisation d’un tableau (types des </a:t>
            </a:r>
            <a:r>
              <a:rPr lang="en-CA" sz="3200" b="1" dirty="0" err="1"/>
              <a:t>valeurs</a:t>
            </a:r>
            <a:r>
              <a:rPr lang="en-CA" sz="3200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26A56-BAEB-FA13-9336-AB99A187196F}"/>
              </a:ext>
            </a:extLst>
          </p:cNvPr>
          <p:cNvSpPr txBox="1"/>
          <p:nvPr/>
        </p:nvSpPr>
        <p:spPr>
          <a:xfrm>
            <a:off x="152400" y="818107"/>
            <a:ext cx="39149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[]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/>
              <a:t>myArray1 =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</a:t>
            </a:r>
            <a:r>
              <a:rPr lang="en-US" sz="2400" b="1" dirty="0">
                <a:solidFill>
                  <a:srgbClr val="FF0000"/>
                </a:solidFill>
              </a:rPr>
              <a:t>3</a:t>
            </a:r>
            <a:r>
              <a:rPr lang="en-US" sz="2400" b="1" dirty="0"/>
              <a:t>];</a:t>
            </a:r>
          </a:p>
          <a:p>
            <a:r>
              <a:rPr lang="en-US" sz="2400" b="1" dirty="0"/>
              <a:t>myArray1[</a:t>
            </a:r>
            <a:r>
              <a:rPr lang="en-US" sz="2400" b="1" dirty="0">
                <a:solidFill>
                  <a:srgbClr val="FF0000"/>
                </a:solidFill>
              </a:rPr>
              <a:t>0</a:t>
            </a:r>
            <a:r>
              <a:rPr lang="en-US" sz="2400" b="1" dirty="0"/>
              <a:t>] =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highlight>
                  <a:srgbClr val="FFFF00"/>
                </a:highlight>
              </a:rPr>
              <a:t>0</a:t>
            </a:r>
            <a:r>
              <a:rPr lang="en-US" sz="2400" b="1" dirty="0">
                <a:solidFill>
                  <a:srgbClr val="7030A0"/>
                </a:solidFill>
              </a:rPr>
              <a:t>;</a:t>
            </a:r>
            <a:endParaRPr lang="en-US" sz="2400" b="1" dirty="0"/>
          </a:p>
          <a:p>
            <a:r>
              <a:rPr lang="en-US" sz="2400" b="1" dirty="0"/>
              <a:t>myArray1[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] = </a:t>
            </a:r>
            <a:r>
              <a:rPr lang="en-US" sz="2400" b="1" dirty="0">
                <a:highlight>
                  <a:srgbClr val="00FFFF"/>
                </a:highlight>
              </a:rPr>
              <a:t>1</a:t>
            </a:r>
            <a:r>
              <a:rPr lang="en-US" sz="2400" b="1" dirty="0">
                <a:solidFill>
                  <a:srgbClr val="7030A0"/>
                </a:solidFill>
              </a:rPr>
              <a:t>;</a:t>
            </a:r>
            <a:endParaRPr lang="en-US" sz="2400" b="1" dirty="0"/>
          </a:p>
          <a:p>
            <a:r>
              <a:rPr lang="en-US" sz="2400" b="1" dirty="0"/>
              <a:t>myArray1[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/>
              <a:t>] = </a:t>
            </a:r>
            <a:r>
              <a:rPr lang="en-US" sz="2400" b="1" dirty="0">
                <a:highlight>
                  <a:srgbClr val="00FF00"/>
                </a:highlight>
              </a:rPr>
              <a:t>2</a:t>
            </a:r>
            <a:r>
              <a:rPr lang="en-US" sz="2400" b="1" dirty="0">
                <a:solidFill>
                  <a:srgbClr val="7030A0"/>
                </a:solidFill>
              </a:rPr>
              <a:t>;</a:t>
            </a:r>
            <a:endParaRPr lang="en-CA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6E43C-D9D9-EEE1-0DE6-12A24606CBD7}"/>
              </a:ext>
            </a:extLst>
          </p:cNvPr>
          <p:cNvSpPr txBox="1"/>
          <p:nvPr/>
        </p:nvSpPr>
        <p:spPr>
          <a:xfrm>
            <a:off x="174707" y="3076746"/>
            <a:ext cx="3730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[]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/>
              <a:t>myArray1 = </a:t>
            </a:r>
            <a:r>
              <a:rPr lang="en-US" sz="2400" b="1" dirty="0">
                <a:solidFill>
                  <a:srgbClr val="FF0000"/>
                </a:solidFill>
              </a:rPr>
              <a:t>{</a:t>
            </a:r>
            <a:r>
              <a:rPr lang="en-US" sz="2400" b="1" dirty="0"/>
              <a:t> </a:t>
            </a:r>
            <a:r>
              <a:rPr lang="en-US" sz="2400" b="1" dirty="0">
                <a:highlight>
                  <a:srgbClr val="FFFF00"/>
                </a:highlight>
              </a:rPr>
              <a:t>0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>
                <a:highlight>
                  <a:srgbClr val="00FFFF"/>
                </a:highlight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>
                <a:highlight>
                  <a:srgbClr val="00FF00"/>
                </a:highlight>
              </a:rPr>
              <a:t>2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};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0CC802-449C-CC3B-E008-4285F1320A15}"/>
              </a:ext>
            </a:extLst>
          </p:cNvPr>
          <p:cNvSpPr txBox="1"/>
          <p:nvPr/>
        </p:nvSpPr>
        <p:spPr>
          <a:xfrm>
            <a:off x="333375" y="2595286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highlight>
                  <a:srgbClr val="FFFF00"/>
                </a:highlight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106122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6CA7-AB22-82B9-43DE-9CF09FD7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F69B43-3D88-121C-F573-175140C5C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474167"/>
              </p:ext>
            </p:extLst>
          </p:nvPr>
        </p:nvGraphicFramePr>
        <p:xfrm>
          <a:off x="2507810" y="4168560"/>
          <a:ext cx="2862842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62842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7C65FE-02FF-FADB-B692-DCCBEB81E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99778"/>
              </p:ext>
            </p:extLst>
          </p:nvPr>
        </p:nvGraphicFramePr>
        <p:xfrm>
          <a:off x="7755514" y="3057406"/>
          <a:ext cx="3386593" cy="308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8581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380531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58FDC6A-0123-3D41-1F36-8F226681E237}"/>
              </a:ext>
            </a:extLst>
          </p:cNvPr>
          <p:cNvSpPr txBox="1"/>
          <p:nvPr/>
        </p:nvSpPr>
        <p:spPr>
          <a:xfrm>
            <a:off x="1343438" y="4549491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myArray1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845CB3-ED64-9FF0-51ED-5B2972DD3A8F}"/>
              </a:ext>
            </a:extLst>
          </p:cNvPr>
          <p:cNvSpPr txBox="1"/>
          <p:nvPr/>
        </p:nvSpPr>
        <p:spPr>
          <a:xfrm>
            <a:off x="7747500" y="3774367"/>
            <a:ext cx="3386592" cy="1261884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2000" b="1" dirty="0">
                <a:highlight>
                  <a:srgbClr val="FFFF00"/>
                </a:highlight>
              </a:rPr>
              <a:t>0</a:t>
            </a:r>
            <a:endParaRPr lang="en-CA" sz="2000" b="1" dirty="0">
              <a:highlight>
                <a:srgbClr val="FFFF00"/>
              </a:highlight>
            </a:endParaRPr>
          </a:p>
          <a:p>
            <a:pPr algn="ctr"/>
            <a:endParaRPr lang="fr-CA" sz="800" b="1" dirty="0"/>
          </a:p>
          <a:p>
            <a:pPr algn="ctr"/>
            <a:r>
              <a:rPr lang="fr-CA" sz="2000" b="1" dirty="0">
                <a:highlight>
                  <a:srgbClr val="00FFFF"/>
                </a:highlight>
              </a:rPr>
              <a:t>10</a:t>
            </a:r>
          </a:p>
          <a:p>
            <a:pPr algn="ctr"/>
            <a:endParaRPr lang="fr-CA" sz="800" b="1" dirty="0"/>
          </a:p>
          <a:p>
            <a:pPr algn="ctr"/>
            <a:r>
              <a:rPr lang="fr-CA" sz="2000" b="1" dirty="0">
                <a:highlight>
                  <a:srgbClr val="00FF00"/>
                </a:highlight>
              </a:rPr>
              <a:t>2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C40AF-A613-4CA0-DE33-6B272C0027DB}"/>
              </a:ext>
            </a:extLst>
          </p:cNvPr>
          <p:cNvSpPr txBox="1"/>
          <p:nvPr/>
        </p:nvSpPr>
        <p:spPr>
          <a:xfrm>
            <a:off x="11094023" y="3671646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36C873-D5B8-B907-DCD6-9FF06C1E50C6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377626" y="3837013"/>
            <a:ext cx="2398813" cy="899345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104EECB-C625-2335-9E54-27E26C7E459B}"/>
              </a:ext>
            </a:extLst>
          </p:cNvPr>
          <p:cNvSpPr txBox="1"/>
          <p:nvPr/>
        </p:nvSpPr>
        <p:spPr>
          <a:xfrm>
            <a:off x="2507810" y="4551692"/>
            <a:ext cx="2869816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C7B899-08EC-181F-0549-B9F153A55CFE}"/>
              </a:ext>
            </a:extLst>
          </p:cNvPr>
          <p:cNvSpPr txBox="1"/>
          <p:nvPr/>
        </p:nvSpPr>
        <p:spPr>
          <a:xfrm>
            <a:off x="1925185" y="71104"/>
            <a:ext cx="9268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 err="1">
                <a:highlight>
                  <a:srgbClr val="FFFF00"/>
                </a:highlight>
              </a:rPr>
              <a:t>Problème</a:t>
            </a:r>
            <a:r>
              <a:rPr lang="en-CA" sz="3200" b="1" dirty="0">
                <a:highlight>
                  <a:srgbClr val="FFFF00"/>
                </a:highlight>
              </a:rPr>
              <a:t>: </a:t>
            </a:r>
            <a:r>
              <a:rPr lang="en-CA" sz="3200" b="1" dirty="0" err="1">
                <a:highlight>
                  <a:srgbClr val="FFFF00"/>
                </a:highlight>
              </a:rPr>
              <a:t>Copie</a:t>
            </a:r>
            <a:r>
              <a:rPr lang="en-CA" sz="3200" b="1" dirty="0">
                <a:highlight>
                  <a:srgbClr val="FFFF00"/>
                </a:highlight>
              </a:rPr>
              <a:t> des tableaux (types des </a:t>
            </a:r>
            <a:r>
              <a:rPr lang="en-CA" sz="3200" b="1" dirty="0" err="1">
                <a:highlight>
                  <a:srgbClr val="FFFF00"/>
                </a:highlight>
              </a:rPr>
              <a:t>valeurs</a:t>
            </a:r>
            <a:r>
              <a:rPr lang="en-CA" sz="3200" b="1" dirty="0"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BA70A-08D4-5B47-C03B-E2BE26AB67F5}"/>
              </a:ext>
            </a:extLst>
          </p:cNvPr>
          <p:cNvSpPr txBox="1"/>
          <p:nvPr/>
        </p:nvSpPr>
        <p:spPr>
          <a:xfrm>
            <a:off x="261082" y="927366"/>
            <a:ext cx="3730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[]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myArray1</a:t>
            </a:r>
            <a:r>
              <a:rPr lang="en-US" sz="2400" b="1" dirty="0"/>
              <a:t> = { </a:t>
            </a:r>
            <a:r>
              <a:rPr lang="en-US" sz="2400" b="1" dirty="0">
                <a:highlight>
                  <a:srgbClr val="FFFF00"/>
                </a:highlight>
              </a:rPr>
              <a:t>0</a:t>
            </a:r>
            <a:r>
              <a:rPr lang="en-US" sz="2400" b="1" dirty="0"/>
              <a:t>, </a:t>
            </a:r>
            <a:r>
              <a:rPr lang="en-US" sz="2400" b="1" dirty="0">
                <a:highlight>
                  <a:srgbClr val="00FFFF"/>
                </a:highlight>
              </a:rPr>
              <a:t>1</a:t>
            </a:r>
            <a:r>
              <a:rPr lang="en-US" sz="2400" b="1" dirty="0"/>
              <a:t>, </a:t>
            </a:r>
            <a:r>
              <a:rPr lang="en-US" sz="2400" b="1" dirty="0">
                <a:highlight>
                  <a:srgbClr val="00FF00"/>
                </a:highlight>
              </a:rPr>
              <a:t>2</a:t>
            </a:r>
            <a:r>
              <a:rPr lang="en-US" sz="2400" b="1" dirty="0"/>
              <a:t> };</a:t>
            </a:r>
            <a:endParaRPr lang="en-C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EAC5F-0349-9AA4-A8E0-9F07EF84B722}"/>
              </a:ext>
            </a:extLst>
          </p:cNvPr>
          <p:cNvSpPr txBox="1"/>
          <p:nvPr/>
        </p:nvSpPr>
        <p:spPr>
          <a:xfrm>
            <a:off x="265241" y="1660519"/>
            <a:ext cx="3848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[] </a:t>
            </a:r>
            <a:r>
              <a:rPr lang="en-US" sz="2400" b="1" dirty="0">
                <a:solidFill>
                  <a:srgbClr val="FF0000"/>
                </a:solidFill>
              </a:rPr>
              <a:t>myArray2</a:t>
            </a:r>
            <a:r>
              <a:rPr lang="en-US" sz="2400" b="1" dirty="0"/>
              <a:t> = myArray1;</a:t>
            </a:r>
            <a:endParaRPr lang="en-C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76F75-CEDE-8E12-D7D9-1F89EA32FA75}"/>
              </a:ext>
            </a:extLst>
          </p:cNvPr>
          <p:cNvSpPr txBox="1"/>
          <p:nvPr/>
        </p:nvSpPr>
        <p:spPr>
          <a:xfrm>
            <a:off x="2514784" y="5265405"/>
            <a:ext cx="286284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FF5F3-99D8-76D1-C726-09501D4434D7}"/>
              </a:ext>
            </a:extLst>
          </p:cNvPr>
          <p:cNvSpPr txBox="1"/>
          <p:nvPr/>
        </p:nvSpPr>
        <p:spPr>
          <a:xfrm>
            <a:off x="265241" y="2364452"/>
            <a:ext cx="2654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myArray2</a:t>
            </a:r>
            <a:r>
              <a:rPr lang="en-US" sz="2400" b="1" dirty="0"/>
              <a:t> [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] = 10;</a:t>
            </a:r>
            <a:endParaRPr lang="en-CA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890B36-DBF8-D750-485E-DAF75E3733FF}"/>
              </a:ext>
            </a:extLst>
          </p:cNvPr>
          <p:cNvSpPr txBox="1"/>
          <p:nvPr/>
        </p:nvSpPr>
        <p:spPr>
          <a:xfrm>
            <a:off x="1301654" y="5263204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FF0000"/>
                </a:solidFill>
              </a:rPr>
              <a:t>myArray2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5CC729-DFCB-FD94-3B3F-5C892EFF3C41}"/>
              </a:ext>
            </a:extLst>
          </p:cNvPr>
          <p:cNvCxnSpPr>
            <a:cxnSpLocks/>
          </p:cNvCxnSpPr>
          <p:nvPr/>
        </p:nvCxnSpPr>
        <p:spPr>
          <a:xfrm flipV="1">
            <a:off x="5384601" y="3909874"/>
            <a:ext cx="2377888" cy="1514089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" name="Graphic 16" descr="Warning with solid fill">
            <a:extLst>
              <a:ext uri="{FF2B5EF4-FFF2-40B4-BE49-F238E27FC236}">
                <a16:creationId xmlns:a16="http://schemas.microsoft.com/office/drawing/2014/main" id="{8A15499F-A75B-4BCB-B79B-92BDE9510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0763" y="1600887"/>
            <a:ext cx="449360" cy="4493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7181637-84E2-3645-32E7-1C10CB91E5BF}"/>
              </a:ext>
            </a:extLst>
          </p:cNvPr>
          <p:cNvSpPr txBox="1"/>
          <p:nvPr/>
        </p:nvSpPr>
        <p:spPr>
          <a:xfrm>
            <a:off x="4457412" y="1661342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Copie des références au lieu des valeurs</a:t>
            </a:r>
            <a:endParaRPr lang="fr-CA" sz="24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B81F81-244F-8DD9-B889-30E2E0F553A8}"/>
              </a:ext>
            </a:extLst>
          </p:cNvPr>
          <p:cNvSpPr txBox="1"/>
          <p:nvPr/>
        </p:nvSpPr>
        <p:spPr>
          <a:xfrm>
            <a:off x="3246809" y="2395486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La valeur de myArray1</a:t>
            </a:r>
            <a:r>
              <a:rPr lang="en-US" sz="2000" b="1" dirty="0"/>
              <a:t> [</a:t>
            </a:r>
            <a:r>
              <a:rPr lang="en-US" sz="2000" b="1" dirty="0">
                <a:solidFill>
                  <a:srgbClr val="FF0000"/>
                </a:solidFill>
              </a:rPr>
              <a:t>1</a:t>
            </a:r>
            <a:r>
              <a:rPr lang="en-US" sz="2000" b="1" dirty="0"/>
              <a:t>] </a:t>
            </a:r>
            <a:r>
              <a:rPr lang="en-US" sz="2000" b="1" dirty="0">
                <a:solidFill>
                  <a:srgbClr val="FF0000"/>
                </a:solidFill>
              </a:rPr>
              <a:t>est </a:t>
            </a:r>
            <a:r>
              <a:rPr lang="en-US" sz="2000" b="1" dirty="0" err="1">
                <a:solidFill>
                  <a:srgbClr val="FF0000"/>
                </a:solidFill>
              </a:rPr>
              <a:t>modi</a:t>
            </a:r>
            <a:r>
              <a:rPr lang="fr-FR" sz="2000" b="1" dirty="0">
                <a:solidFill>
                  <a:srgbClr val="FF0000"/>
                </a:solidFill>
              </a:rPr>
              <a:t>fiée en 10</a:t>
            </a:r>
            <a:endParaRPr lang="fr-CA" sz="2400" dirty="0">
              <a:solidFill>
                <a:srgbClr val="FF0000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1F7C0211-AEC8-177E-DFD2-BB84D156D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7683" y="2315458"/>
            <a:ext cx="449360" cy="44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13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3594-BC9E-5470-9A54-7DA220A4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7C2D41-7CFC-60EA-FA8C-4F56D8F0F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487150"/>
              </p:ext>
            </p:extLst>
          </p:nvPr>
        </p:nvGraphicFramePr>
        <p:xfrm>
          <a:off x="3204927" y="4772756"/>
          <a:ext cx="2888981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8981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36B04F-B75A-3DAC-EC91-283170F3B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155185"/>
              </p:ext>
            </p:extLst>
          </p:nvPr>
        </p:nvGraphicFramePr>
        <p:xfrm>
          <a:off x="7790389" y="1585468"/>
          <a:ext cx="3386593" cy="4238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8581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380531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5480516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414086"/>
                  </a:ext>
                </a:extLst>
              </a:tr>
              <a:tr h="38581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29286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48D46F-4EC8-1340-3CE8-848923908039}"/>
              </a:ext>
            </a:extLst>
          </p:cNvPr>
          <p:cNvSpPr txBox="1"/>
          <p:nvPr/>
        </p:nvSpPr>
        <p:spPr>
          <a:xfrm>
            <a:off x="2092779" y="5164941"/>
            <a:ext cx="130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myArray1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FF7F7-BE0B-07F0-D920-FE3496A47FC4}"/>
              </a:ext>
            </a:extLst>
          </p:cNvPr>
          <p:cNvSpPr txBox="1"/>
          <p:nvPr/>
        </p:nvSpPr>
        <p:spPr>
          <a:xfrm>
            <a:off x="7790389" y="2320006"/>
            <a:ext cx="3386592" cy="1138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1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2</a:t>
            </a:r>
            <a:endParaRPr lang="en-CA" sz="1600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1D970-08AE-3733-2265-48359E2E6A34}"/>
              </a:ext>
            </a:extLst>
          </p:cNvPr>
          <p:cNvSpPr txBox="1"/>
          <p:nvPr/>
        </p:nvSpPr>
        <p:spPr>
          <a:xfrm>
            <a:off x="11170006" y="2411204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A9DB24-5D00-2E9E-D11F-9569CF63FD1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6093907" y="2331225"/>
            <a:ext cx="1720712" cy="3018382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391288F-63C4-81D6-8929-C39FA9A86101}"/>
              </a:ext>
            </a:extLst>
          </p:cNvPr>
          <p:cNvSpPr txBox="1"/>
          <p:nvPr/>
        </p:nvSpPr>
        <p:spPr>
          <a:xfrm>
            <a:off x="3190978" y="5164941"/>
            <a:ext cx="290292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6E5523-EFBD-D8B7-9CC2-47A5E48086B3}"/>
              </a:ext>
            </a:extLst>
          </p:cNvPr>
          <p:cNvSpPr txBox="1"/>
          <p:nvPr/>
        </p:nvSpPr>
        <p:spPr>
          <a:xfrm>
            <a:off x="1925185" y="71104"/>
            <a:ext cx="9758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>
                <a:highlight>
                  <a:srgbClr val="00FFFF"/>
                </a:highlight>
              </a:rPr>
              <a:t>Solution: </a:t>
            </a:r>
            <a:r>
              <a:rPr lang="en-CA" sz="3200" b="1" dirty="0" err="1">
                <a:highlight>
                  <a:srgbClr val="00FFFF"/>
                </a:highlight>
              </a:rPr>
              <a:t>Copie</a:t>
            </a:r>
            <a:r>
              <a:rPr lang="en-CA" sz="3200" b="1" dirty="0">
                <a:highlight>
                  <a:srgbClr val="00FFFF"/>
                </a:highlight>
              </a:rPr>
              <a:t> des tableaux (</a:t>
            </a:r>
            <a:r>
              <a:rPr lang="en-CA" sz="3200" b="1" dirty="0" err="1">
                <a:highlight>
                  <a:srgbClr val="00FFFF"/>
                </a:highlight>
              </a:rPr>
              <a:t>élément</a:t>
            </a:r>
            <a:r>
              <a:rPr lang="en-CA" sz="3200" b="1" dirty="0">
                <a:highlight>
                  <a:srgbClr val="00FFFF"/>
                </a:highlight>
              </a:rPr>
              <a:t> par </a:t>
            </a:r>
            <a:r>
              <a:rPr lang="en-CA" sz="3200" b="1" dirty="0" err="1">
                <a:highlight>
                  <a:srgbClr val="00FFFF"/>
                </a:highlight>
              </a:rPr>
              <a:t>élément</a:t>
            </a:r>
            <a:r>
              <a:rPr lang="en-CA" sz="3200" b="1" dirty="0">
                <a:highlight>
                  <a:srgbClr val="00FFFF"/>
                </a:highlight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DAA62-CECB-1E26-010C-69FFB0D12BED}"/>
              </a:ext>
            </a:extLst>
          </p:cNvPr>
          <p:cNvSpPr txBox="1"/>
          <p:nvPr/>
        </p:nvSpPr>
        <p:spPr>
          <a:xfrm>
            <a:off x="261082" y="927366"/>
            <a:ext cx="3730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[]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myArray1</a:t>
            </a:r>
            <a:r>
              <a:rPr lang="en-US" sz="2400" b="1" dirty="0"/>
              <a:t> = { </a:t>
            </a:r>
            <a:r>
              <a:rPr lang="en-US" sz="2400" b="1" dirty="0">
                <a:highlight>
                  <a:srgbClr val="FFFF00"/>
                </a:highlight>
              </a:rPr>
              <a:t>0</a:t>
            </a:r>
            <a:r>
              <a:rPr lang="en-US" sz="2400" b="1" dirty="0"/>
              <a:t>, </a:t>
            </a:r>
            <a:r>
              <a:rPr lang="en-US" sz="2400" b="1" dirty="0">
                <a:highlight>
                  <a:srgbClr val="00FFFF"/>
                </a:highlight>
              </a:rPr>
              <a:t>1</a:t>
            </a:r>
            <a:r>
              <a:rPr lang="en-US" sz="2400" b="1" dirty="0"/>
              <a:t>, </a:t>
            </a:r>
            <a:r>
              <a:rPr lang="en-US" sz="2400" b="1" dirty="0">
                <a:highlight>
                  <a:srgbClr val="00FF00"/>
                </a:highlight>
              </a:rPr>
              <a:t>2</a:t>
            </a:r>
            <a:r>
              <a:rPr lang="en-US" sz="2400" b="1" dirty="0"/>
              <a:t> };</a:t>
            </a:r>
            <a:endParaRPr lang="en-C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FE740-F7FD-C368-37DB-15A4BEDFC3AA}"/>
              </a:ext>
            </a:extLst>
          </p:cNvPr>
          <p:cNvSpPr txBox="1"/>
          <p:nvPr/>
        </p:nvSpPr>
        <p:spPr>
          <a:xfrm>
            <a:off x="261082" y="1434222"/>
            <a:ext cx="6732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[] </a:t>
            </a:r>
            <a:r>
              <a:rPr lang="en-US" sz="2400" b="1" dirty="0">
                <a:solidFill>
                  <a:srgbClr val="FF0000"/>
                </a:solidFill>
              </a:rPr>
              <a:t>myArray2</a:t>
            </a:r>
            <a:r>
              <a:rPr lang="en-US" sz="2400" b="1" dirty="0"/>
              <a:t> =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int</a:t>
            </a:r>
            <a:r>
              <a:rPr lang="en-US" sz="2400" b="1" dirty="0"/>
              <a:t>[</a:t>
            </a:r>
            <a:r>
              <a:rPr lang="en-US" sz="2400" b="1" dirty="0">
                <a:highlight>
                  <a:srgbClr val="FFFF00"/>
                </a:highlight>
              </a:rPr>
              <a:t>myArray1.Length</a:t>
            </a:r>
            <a:r>
              <a:rPr lang="en-US" sz="2400" b="1" dirty="0"/>
              <a:t>];</a:t>
            </a:r>
          </a:p>
          <a:p>
            <a:endParaRPr lang="en-C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80D4B-7B74-BE40-3A18-44962D2ADD03}"/>
              </a:ext>
            </a:extLst>
          </p:cNvPr>
          <p:cNvSpPr txBox="1"/>
          <p:nvPr/>
        </p:nvSpPr>
        <p:spPr>
          <a:xfrm>
            <a:off x="3204926" y="5878654"/>
            <a:ext cx="288898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FF0000"/>
                </a:solidFill>
              </a:rPr>
              <a:t>@1500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5A40E-A781-26CF-1475-4BFE37EB3650}"/>
              </a:ext>
            </a:extLst>
          </p:cNvPr>
          <p:cNvSpPr txBox="1"/>
          <p:nvPr/>
        </p:nvSpPr>
        <p:spPr>
          <a:xfrm>
            <a:off x="261082" y="4468759"/>
            <a:ext cx="2654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myArray2</a:t>
            </a:r>
            <a:r>
              <a:rPr lang="en-US" sz="2400" b="1" dirty="0"/>
              <a:t> [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] = 10;</a:t>
            </a:r>
            <a:endParaRPr lang="en-CA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C37A0-73ED-B931-FB59-E1AA08FA90A6}"/>
              </a:ext>
            </a:extLst>
          </p:cNvPr>
          <p:cNvSpPr txBox="1"/>
          <p:nvPr/>
        </p:nvSpPr>
        <p:spPr>
          <a:xfrm>
            <a:off x="2050995" y="5878654"/>
            <a:ext cx="130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0000"/>
                </a:solidFill>
              </a:rPr>
              <a:t>myArray2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D7A930-26D6-CC44-3AD7-9857B228058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093907" y="4323116"/>
            <a:ext cx="1668582" cy="1740204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582DD7A-7589-0CE4-10F6-1878B71C517C}"/>
              </a:ext>
            </a:extLst>
          </p:cNvPr>
          <p:cNvSpPr txBox="1"/>
          <p:nvPr/>
        </p:nvSpPr>
        <p:spPr>
          <a:xfrm>
            <a:off x="261082" y="2075638"/>
            <a:ext cx="5183663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//Copier les </a:t>
            </a:r>
            <a:r>
              <a:rPr lang="en-US" sz="2000" b="1" dirty="0" err="1">
                <a:solidFill>
                  <a:srgbClr val="00B050"/>
                </a:solidFill>
              </a:rPr>
              <a:t>éléments</a:t>
            </a:r>
            <a:r>
              <a:rPr lang="en-US" sz="2000" b="1" dirty="0">
                <a:solidFill>
                  <a:srgbClr val="00B050"/>
                </a:solidFill>
              </a:rPr>
              <a:t> de myArray1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endParaRPr lang="en-US" sz="200" b="1" dirty="0">
              <a:solidFill>
                <a:srgbClr val="FF0000"/>
              </a:solidFill>
            </a:endParaRPr>
          </a:p>
          <a:p>
            <a:r>
              <a:rPr lang="nn-NO" sz="2400" b="1" dirty="0"/>
              <a:t>for (</a:t>
            </a:r>
            <a:r>
              <a:rPr lang="nn-NO" sz="2400" b="1" dirty="0">
                <a:solidFill>
                  <a:srgbClr val="00B0F0"/>
                </a:solidFill>
              </a:rPr>
              <a:t>int</a:t>
            </a:r>
            <a:r>
              <a:rPr lang="nn-NO" sz="2400" b="1" dirty="0"/>
              <a:t> i = 0;i &lt; </a:t>
            </a:r>
            <a:r>
              <a:rPr lang="nn-NO" sz="2400" b="1" dirty="0">
                <a:solidFill>
                  <a:srgbClr val="FF0000"/>
                </a:solidFill>
              </a:rPr>
              <a:t>myArray2</a:t>
            </a:r>
            <a:r>
              <a:rPr lang="nn-NO" sz="2400" b="1" dirty="0"/>
              <a:t>.Length; i++)</a:t>
            </a:r>
          </a:p>
          <a:p>
            <a:r>
              <a:rPr lang="en-CA" sz="2400" b="1" dirty="0"/>
              <a:t>{</a:t>
            </a:r>
          </a:p>
          <a:p>
            <a:r>
              <a:rPr lang="en-CA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         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myArray2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 = </a:t>
            </a:r>
            <a:r>
              <a:rPr lang="en-US" sz="2400" b="1" dirty="0">
                <a:solidFill>
                  <a:srgbClr val="7030A0"/>
                </a:solidFill>
                <a:highlight>
                  <a:srgbClr val="FFFF00"/>
                </a:highlight>
              </a:rPr>
              <a:t>myArray1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];</a:t>
            </a:r>
          </a:p>
          <a:p>
            <a:r>
              <a:rPr lang="en-CA" sz="2400" b="1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397453-0B74-C729-A0BC-2EA1FC9B03B1}"/>
              </a:ext>
            </a:extLst>
          </p:cNvPr>
          <p:cNvSpPr txBox="1"/>
          <p:nvPr/>
        </p:nvSpPr>
        <p:spPr>
          <a:xfrm>
            <a:off x="7783414" y="4285190"/>
            <a:ext cx="3386592" cy="11387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10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2</a:t>
            </a:r>
            <a:endParaRPr lang="en-CA" sz="1600" b="1" dirty="0">
              <a:highlight>
                <a:srgbClr val="00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6A3F0-F6C4-FE01-BEF4-ADE85919004E}"/>
              </a:ext>
            </a:extLst>
          </p:cNvPr>
          <p:cNvSpPr txBox="1"/>
          <p:nvPr/>
        </p:nvSpPr>
        <p:spPr>
          <a:xfrm>
            <a:off x="11190931" y="4117676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0000"/>
                </a:solidFill>
              </a:rPr>
              <a:t>@1500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8481C3-1511-66E6-9880-3FE03FB7C1DA}"/>
              </a:ext>
            </a:extLst>
          </p:cNvPr>
          <p:cNvSpPr txBox="1"/>
          <p:nvPr/>
        </p:nvSpPr>
        <p:spPr>
          <a:xfrm>
            <a:off x="840373" y="4053000"/>
            <a:ext cx="5569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//</a:t>
            </a:r>
            <a:r>
              <a:rPr lang="fr-FR" sz="2000" b="1" dirty="0">
                <a:solidFill>
                  <a:srgbClr val="00B050"/>
                </a:solidFill>
              </a:rPr>
              <a:t>La valeur de myArray1</a:t>
            </a:r>
            <a:r>
              <a:rPr lang="en-US" sz="2000" b="1" dirty="0"/>
              <a:t> [</a:t>
            </a:r>
            <a:r>
              <a:rPr lang="en-US" sz="2000" b="1" dirty="0">
                <a:solidFill>
                  <a:srgbClr val="FF0000"/>
                </a:solidFill>
              </a:rPr>
              <a:t>1</a:t>
            </a:r>
            <a:r>
              <a:rPr lang="en-US" sz="2000" b="1" dirty="0"/>
              <a:t>]</a:t>
            </a:r>
            <a:r>
              <a:rPr lang="fr-FR" sz="2000" b="1" dirty="0">
                <a:solidFill>
                  <a:srgbClr val="00B050"/>
                </a:solidFill>
              </a:rPr>
              <a:t> ne change pas </a:t>
            </a:r>
            <a:endParaRPr lang="en-CA" sz="2000" dirty="0"/>
          </a:p>
        </p:txBody>
      </p:sp>
      <p:pic>
        <p:nvPicPr>
          <p:cNvPr id="27" name="Graphic 26" descr="Comment Like with solid fill">
            <a:extLst>
              <a:ext uri="{FF2B5EF4-FFF2-40B4-BE49-F238E27FC236}">
                <a16:creationId xmlns:a16="http://schemas.microsoft.com/office/drawing/2014/main" id="{D0FA5915-5579-B5D6-FB8F-F67A29CB8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0" y="383816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98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4DDE-BC7A-5743-4DF0-98C86A5F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FAF63C-19BD-6BD6-567D-E21FCEBB4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1097"/>
              </p:ext>
            </p:extLst>
          </p:nvPr>
        </p:nvGraphicFramePr>
        <p:xfrm>
          <a:off x="3621386" y="4536306"/>
          <a:ext cx="2906970" cy="184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06970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EC5204-1D5F-FD2E-C392-BFCF9BC7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186167"/>
              </p:ext>
            </p:extLst>
          </p:nvPr>
        </p:nvGraphicFramePr>
        <p:xfrm>
          <a:off x="7947377" y="799797"/>
          <a:ext cx="3386593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702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1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16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171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12519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2D5D9A-F0A4-D080-D367-271CD5EF3156}"/>
              </a:ext>
            </a:extLst>
          </p:cNvPr>
          <p:cNvSpPr txBox="1"/>
          <p:nvPr/>
        </p:nvSpPr>
        <p:spPr>
          <a:xfrm>
            <a:off x="2350243" y="4890490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myArray1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6194E-AAB6-017C-A4EB-F750A0B52A9F}"/>
              </a:ext>
            </a:extLst>
          </p:cNvPr>
          <p:cNvSpPr txBox="1"/>
          <p:nvPr/>
        </p:nvSpPr>
        <p:spPr>
          <a:xfrm>
            <a:off x="7939363" y="1525810"/>
            <a:ext cx="3386592" cy="1138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37017-978C-A0CD-137A-44F366DF1060}"/>
              </a:ext>
            </a:extLst>
          </p:cNvPr>
          <p:cNvSpPr txBox="1"/>
          <p:nvPr/>
        </p:nvSpPr>
        <p:spPr>
          <a:xfrm>
            <a:off x="11285886" y="1414036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5DC659-E272-B16A-953B-633AEF1F40C4}"/>
              </a:ext>
            </a:extLst>
          </p:cNvPr>
          <p:cNvCxnSpPr>
            <a:cxnSpLocks/>
          </p:cNvCxnSpPr>
          <p:nvPr/>
        </p:nvCxnSpPr>
        <p:spPr>
          <a:xfrm flipV="1">
            <a:off x="6542305" y="1560177"/>
            <a:ext cx="1356989" cy="3560476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CD6AD7-29C3-3692-8E93-8588ACEC8526}"/>
              </a:ext>
            </a:extLst>
          </p:cNvPr>
          <p:cNvSpPr txBox="1"/>
          <p:nvPr/>
        </p:nvSpPr>
        <p:spPr>
          <a:xfrm>
            <a:off x="3637413" y="4928491"/>
            <a:ext cx="2906970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51884-6A93-FBD1-1F0E-066FD295859C}"/>
              </a:ext>
            </a:extLst>
          </p:cNvPr>
          <p:cNvSpPr txBox="1"/>
          <p:nvPr/>
        </p:nvSpPr>
        <p:spPr>
          <a:xfrm>
            <a:off x="11325955" y="5240891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@3200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84606B-7532-FC2F-8930-89AF61BD4D36}"/>
              </a:ext>
            </a:extLst>
          </p:cNvPr>
          <p:cNvSpPr txBox="1"/>
          <p:nvPr/>
        </p:nvSpPr>
        <p:spPr>
          <a:xfrm>
            <a:off x="7936618" y="5249055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16A4A7-F14A-BE78-7270-185BAF64CC48}"/>
              </a:ext>
            </a:extLst>
          </p:cNvPr>
          <p:cNvSpPr txBox="1"/>
          <p:nvPr/>
        </p:nvSpPr>
        <p:spPr>
          <a:xfrm>
            <a:off x="11317941" y="5999720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@4000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688290-AA29-3F22-4B02-85196C481B33}"/>
              </a:ext>
            </a:extLst>
          </p:cNvPr>
          <p:cNvSpPr txBox="1"/>
          <p:nvPr/>
        </p:nvSpPr>
        <p:spPr>
          <a:xfrm>
            <a:off x="7939363" y="6011014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0, Y=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6D6920-3358-E01D-3C3F-1216BB674207}"/>
              </a:ext>
            </a:extLst>
          </p:cNvPr>
          <p:cNvSpPr txBox="1"/>
          <p:nvPr/>
        </p:nvSpPr>
        <p:spPr>
          <a:xfrm>
            <a:off x="11309927" y="2985397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@2500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387E51-73A1-AEF0-2B02-5DA57240E5E3}"/>
              </a:ext>
            </a:extLst>
          </p:cNvPr>
          <p:cNvSpPr txBox="1"/>
          <p:nvPr/>
        </p:nvSpPr>
        <p:spPr>
          <a:xfrm>
            <a:off x="7931349" y="2996691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0, Y=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6D64B-9BFA-A9B6-17F8-BE7C5F6B2A9A}"/>
              </a:ext>
            </a:extLst>
          </p:cNvPr>
          <p:cNvSpPr txBox="1"/>
          <p:nvPr/>
        </p:nvSpPr>
        <p:spPr>
          <a:xfrm>
            <a:off x="229000" y="709723"/>
            <a:ext cx="63153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[]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/>
              <a:t>myArray1 =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Coordinate[</a:t>
            </a:r>
            <a:r>
              <a:rPr lang="en-US" sz="2400" b="1" dirty="0">
                <a:solidFill>
                  <a:srgbClr val="FF0000"/>
                </a:solidFill>
              </a:rPr>
              <a:t>3</a:t>
            </a:r>
            <a:r>
              <a:rPr lang="en-US" sz="2400" b="1" dirty="0"/>
              <a:t>];</a:t>
            </a:r>
          </a:p>
          <a:p>
            <a:r>
              <a:rPr lang="en-US" sz="2400" b="1" dirty="0"/>
              <a:t>myArray1[</a:t>
            </a:r>
            <a:r>
              <a:rPr lang="en-US" sz="2400" b="1" dirty="0">
                <a:solidFill>
                  <a:srgbClr val="FF0000"/>
                </a:solidFill>
              </a:rPr>
              <a:t>0</a:t>
            </a:r>
            <a:r>
              <a:rPr lang="en-US" sz="2400" b="1" dirty="0"/>
              <a:t>] =</a:t>
            </a:r>
            <a:r>
              <a:rPr lang="en-US" sz="2400" b="1" dirty="0">
                <a:solidFill>
                  <a:srgbClr val="7030A0"/>
                </a:solidFill>
              </a:rPr>
              <a:t> new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(0, 0);</a:t>
            </a:r>
          </a:p>
          <a:p>
            <a:r>
              <a:rPr lang="en-US" sz="2400" b="1" dirty="0"/>
              <a:t>myArray1[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/>
              <a:t>] = </a:t>
            </a:r>
            <a:r>
              <a:rPr lang="en-US" sz="2400" b="1" dirty="0">
                <a:solidFill>
                  <a:srgbClr val="7030A0"/>
                </a:solidFill>
              </a:rPr>
              <a:t>new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(1, 1);</a:t>
            </a:r>
          </a:p>
          <a:p>
            <a:r>
              <a:rPr lang="en-US" sz="2400" b="1" dirty="0"/>
              <a:t>myArray1[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/>
              <a:t>] =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(2, 2);</a:t>
            </a:r>
            <a:endParaRPr lang="en-CA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D39A02-AF66-F6B2-E499-736CADCF2ECF}"/>
              </a:ext>
            </a:extLst>
          </p:cNvPr>
          <p:cNvSpPr txBox="1"/>
          <p:nvPr/>
        </p:nvSpPr>
        <p:spPr>
          <a:xfrm>
            <a:off x="183760" y="2779952"/>
            <a:ext cx="69494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[]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/>
              <a:t>myArray1 = </a:t>
            </a:r>
            <a:r>
              <a:rPr lang="en-US" sz="2400" b="1" dirty="0">
                <a:solidFill>
                  <a:srgbClr val="FF0000"/>
                </a:solidFill>
              </a:rPr>
              <a:t>{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new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(0, 0) </a:t>
            </a:r>
            <a:r>
              <a:rPr lang="en-US" sz="2400" b="1" dirty="0">
                <a:solidFill>
                  <a:srgbClr val="FF0000"/>
                </a:solidFill>
              </a:rPr>
              <a:t>,</a:t>
            </a:r>
          </a:p>
          <a:p>
            <a:r>
              <a:rPr lang="en-US" sz="2400" b="1" dirty="0"/>
              <a:t>                                                         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(1, 1) </a:t>
            </a:r>
            <a:r>
              <a:rPr lang="en-US" sz="2400" b="1" dirty="0">
                <a:solidFill>
                  <a:srgbClr val="FF0000"/>
                </a:solidFill>
              </a:rPr>
              <a:t>,</a:t>
            </a:r>
          </a:p>
          <a:p>
            <a:r>
              <a:rPr lang="en-US" sz="2400" b="1" dirty="0"/>
              <a:t>                                                         </a:t>
            </a:r>
            <a:r>
              <a:rPr lang="en-US" sz="2400" b="1" dirty="0">
                <a:solidFill>
                  <a:srgbClr val="7030A0"/>
                </a:solidFill>
              </a:rPr>
              <a:t> new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(2, 2) </a:t>
            </a:r>
            <a:r>
              <a:rPr lang="en-US" sz="2400" b="1" dirty="0">
                <a:solidFill>
                  <a:srgbClr val="FF0000"/>
                </a:solidFill>
              </a:rPr>
              <a:t>};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F8D1AC-B1D3-DBC0-7105-C25F3EFD2188}"/>
              </a:ext>
            </a:extLst>
          </p:cNvPr>
          <p:cNvSpPr txBox="1"/>
          <p:nvPr/>
        </p:nvSpPr>
        <p:spPr>
          <a:xfrm>
            <a:off x="238950" y="2318287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highlight>
                  <a:srgbClr val="FFFF00"/>
                </a:highlight>
              </a:rPr>
              <a:t>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1C97A-0E3C-78F0-80A4-D70F26987638}"/>
              </a:ext>
            </a:extLst>
          </p:cNvPr>
          <p:cNvSpPr txBox="1"/>
          <p:nvPr/>
        </p:nvSpPr>
        <p:spPr>
          <a:xfrm>
            <a:off x="1516476" y="-11474"/>
            <a:ext cx="9271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Initialisation d’un tableau (types des </a:t>
            </a:r>
            <a:r>
              <a:rPr lang="en-CA" sz="3200" b="1" dirty="0" err="1"/>
              <a:t>références</a:t>
            </a:r>
            <a:r>
              <a:rPr lang="en-CA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97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07F1-98EF-E043-4F94-AE42481A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6DABB0-1BF8-284E-6DCD-4A37979A9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104315"/>
              </p:ext>
            </p:extLst>
          </p:nvPr>
        </p:nvGraphicFramePr>
        <p:xfrm>
          <a:off x="1204112" y="3370704"/>
          <a:ext cx="2888850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8850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B994E6-0DA0-02BE-768E-16DE71025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87102"/>
              </p:ext>
            </p:extLst>
          </p:nvPr>
        </p:nvGraphicFramePr>
        <p:xfrm>
          <a:off x="8016624" y="818246"/>
          <a:ext cx="3386593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702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1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16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171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12519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B0892F-3956-A8CC-8FF1-C241525AE73E}"/>
              </a:ext>
            </a:extLst>
          </p:cNvPr>
          <p:cNvSpPr txBox="1"/>
          <p:nvPr/>
        </p:nvSpPr>
        <p:spPr>
          <a:xfrm>
            <a:off x="4061071" y="3833049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myArray1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70C26A-AD42-93B5-428A-6EA688615C38}"/>
              </a:ext>
            </a:extLst>
          </p:cNvPr>
          <p:cNvSpPr txBox="1"/>
          <p:nvPr/>
        </p:nvSpPr>
        <p:spPr>
          <a:xfrm>
            <a:off x="8024639" y="1546562"/>
            <a:ext cx="3386592" cy="1138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B28761-82EA-CC1F-A7CA-341A14ADBDEE}"/>
              </a:ext>
            </a:extLst>
          </p:cNvPr>
          <p:cNvSpPr txBox="1"/>
          <p:nvPr/>
        </p:nvSpPr>
        <p:spPr>
          <a:xfrm>
            <a:off x="11371162" y="1434788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D0B369-5453-7BD7-C410-3610F834E718}"/>
              </a:ext>
            </a:extLst>
          </p:cNvPr>
          <p:cNvCxnSpPr>
            <a:cxnSpLocks/>
          </p:cNvCxnSpPr>
          <p:nvPr/>
        </p:nvCxnSpPr>
        <p:spPr>
          <a:xfrm flipV="1">
            <a:off x="4106503" y="1546562"/>
            <a:ext cx="3926150" cy="2382809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973826-9ED8-08D9-5115-D94D7D6763B6}"/>
              </a:ext>
            </a:extLst>
          </p:cNvPr>
          <p:cNvSpPr txBox="1"/>
          <p:nvPr/>
        </p:nvSpPr>
        <p:spPr>
          <a:xfrm>
            <a:off x="4118527" y="6098808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myArray2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210005-9996-CA3E-8238-6D66B5D4D096}"/>
              </a:ext>
            </a:extLst>
          </p:cNvPr>
          <p:cNvSpPr txBox="1"/>
          <p:nvPr/>
        </p:nvSpPr>
        <p:spPr>
          <a:xfrm>
            <a:off x="1229169" y="5944703"/>
            <a:ext cx="288134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2BD4DD-29EA-6851-6D20-FBFA53179678}"/>
              </a:ext>
            </a:extLst>
          </p:cNvPr>
          <p:cNvCxnSpPr>
            <a:cxnSpLocks/>
          </p:cNvCxnSpPr>
          <p:nvPr/>
        </p:nvCxnSpPr>
        <p:spPr>
          <a:xfrm flipV="1">
            <a:off x="4085454" y="3764564"/>
            <a:ext cx="3891102" cy="2180139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1D42DA-ADFC-46F4-951A-1D4F83E8199A}"/>
              </a:ext>
            </a:extLst>
          </p:cNvPr>
          <p:cNvSpPr txBox="1"/>
          <p:nvPr/>
        </p:nvSpPr>
        <p:spPr>
          <a:xfrm>
            <a:off x="11387190" y="3764564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ED393F-850A-AABD-B84F-F2B6EBA7ED9B}"/>
              </a:ext>
            </a:extLst>
          </p:cNvPr>
          <p:cNvSpPr txBox="1"/>
          <p:nvPr/>
        </p:nvSpPr>
        <p:spPr>
          <a:xfrm>
            <a:off x="1204111" y="3726347"/>
            <a:ext cx="288134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9FEC9E-ECEF-BE50-217C-B22FF9B6084C}"/>
              </a:ext>
            </a:extLst>
          </p:cNvPr>
          <p:cNvSpPr txBox="1"/>
          <p:nvPr/>
        </p:nvSpPr>
        <p:spPr>
          <a:xfrm>
            <a:off x="11411231" y="526164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@3200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3E0B64-E1DA-B2C3-7818-65465AFED738}"/>
              </a:ext>
            </a:extLst>
          </p:cNvPr>
          <p:cNvSpPr txBox="1"/>
          <p:nvPr/>
        </p:nvSpPr>
        <p:spPr>
          <a:xfrm>
            <a:off x="7984570" y="5269807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9DA8A0-9501-FEA8-6455-48FA68A3CAF6}"/>
              </a:ext>
            </a:extLst>
          </p:cNvPr>
          <p:cNvSpPr txBox="1"/>
          <p:nvPr/>
        </p:nvSpPr>
        <p:spPr>
          <a:xfrm>
            <a:off x="11403217" y="6020472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@4000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1DE57E-E5F4-A0ED-6A99-D011B51D40D5}"/>
              </a:ext>
            </a:extLst>
          </p:cNvPr>
          <p:cNvSpPr txBox="1"/>
          <p:nvPr/>
        </p:nvSpPr>
        <p:spPr>
          <a:xfrm>
            <a:off x="8024639" y="6031766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1, Y=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4072AC-ED95-6CAC-BE89-9B0EB1124D19}"/>
              </a:ext>
            </a:extLst>
          </p:cNvPr>
          <p:cNvSpPr txBox="1"/>
          <p:nvPr/>
        </p:nvSpPr>
        <p:spPr>
          <a:xfrm>
            <a:off x="11395203" y="3006149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@2500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D4D90B-A05B-A570-BEA4-B1F44AEF0EE5}"/>
              </a:ext>
            </a:extLst>
          </p:cNvPr>
          <p:cNvSpPr txBox="1"/>
          <p:nvPr/>
        </p:nvSpPr>
        <p:spPr>
          <a:xfrm>
            <a:off x="8016625" y="3017443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2, Y=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579FF4-A747-650A-2825-34D1BD095CD2}"/>
              </a:ext>
            </a:extLst>
          </p:cNvPr>
          <p:cNvSpPr txBox="1"/>
          <p:nvPr/>
        </p:nvSpPr>
        <p:spPr>
          <a:xfrm>
            <a:off x="8000598" y="3766189"/>
            <a:ext cx="3386592" cy="1138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2F50D-8A91-6584-89CA-DC324BAF5B6D}"/>
              </a:ext>
            </a:extLst>
          </p:cNvPr>
          <p:cNvSpPr txBox="1"/>
          <p:nvPr/>
        </p:nvSpPr>
        <p:spPr>
          <a:xfrm>
            <a:off x="207387" y="818246"/>
            <a:ext cx="63153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[] </a:t>
            </a:r>
            <a:r>
              <a:rPr lang="en-US" sz="2400" b="1" dirty="0">
                <a:solidFill>
                  <a:srgbClr val="00B050"/>
                </a:solidFill>
              </a:rPr>
              <a:t>myArray2</a:t>
            </a:r>
            <a:r>
              <a:rPr lang="en-US" sz="2400" b="1" dirty="0"/>
              <a:t> =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[</a:t>
            </a:r>
            <a:r>
              <a:rPr lang="en-US" sz="2400" b="1" dirty="0">
                <a:solidFill>
                  <a:srgbClr val="FF0000"/>
                </a:solidFill>
              </a:rPr>
              <a:t>3</a:t>
            </a:r>
            <a:r>
              <a:rPr lang="en-US" sz="2400" b="1" dirty="0"/>
              <a:t>];</a:t>
            </a:r>
          </a:p>
          <a:p>
            <a:r>
              <a:rPr lang="nn-NO" sz="2400" b="1" dirty="0"/>
              <a:t>for (int i = 0;i &lt; myArray1.Length; i++)</a:t>
            </a:r>
          </a:p>
          <a:p>
            <a:r>
              <a:rPr lang="en-CA" sz="2400" b="1" dirty="0"/>
              <a:t>{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    </a:t>
            </a:r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myArray2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 = myArray1[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];</a:t>
            </a:r>
          </a:p>
          <a:p>
            <a:r>
              <a:rPr lang="en-CA" sz="2400" b="1" dirty="0"/>
              <a:t>}</a:t>
            </a:r>
          </a:p>
        </p:txBody>
      </p:sp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86A3DEC-4630-44AC-A396-767CE93A4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8527" y="1619267"/>
            <a:ext cx="449360" cy="449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5AA792-67A5-5EB0-4864-540B396C7697}"/>
              </a:ext>
            </a:extLst>
          </p:cNvPr>
          <p:cNvSpPr txBox="1"/>
          <p:nvPr/>
        </p:nvSpPr>
        <p:spPr>
          <a:xfrm>
            <a:off x="4489173" y="1619454"/>
            <a:ext cx="60975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Copie des références 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    au lieu des valeurs</a:t>
            </a:r>
            <a:endParaRPr lang="fr-CA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47C421-B34D-03CA-9E56-6329CD25587E}"/>
              </a:ext>
            </a:extLst>
          </p:cNvPr>
          <p:cNvSpPr txBox="1"/>
          <p:nvPr/>
        </p:nvSpPr>
        <p:spPr>
          <a:xfrm>
            <a:off x="1524863" y="53458"/>
            <a:ext cx="9995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 err="1">
                <a:highlight>
                  <a:srgbClr val="FFFF00"/>
                </a:highlight>
              </a:rPr>
              <a:t>Problème</a:t>
            </a:r>
            <a:r>
              <a:rPr lang="en-CA" sz="3200" b="1" dirty="0">
                <a:highlight>
                  <a:srgbClr val="FFFF00"/>
                </a:highlight>
              </a:rPr>
              <a:t>: </a:t>
            </a:r>
            <a:r>
              <a:rPr lang="en-CA" sz="3200" b="1" dirty="0" err="1">
                <a:highlight>
                  <a:srgbClr val="FFFF00"/>
                </a:highlight>
              </a:rPr>
              <a:t>Copie</a:t>
            </a:r>
            <a:r>
              <a:rPr lang="en-CA" sz="3200" b="1" dirty="0">
                <a:highlight>
                  <a:srgbClr val="FFFF00"/>
                </a:highlight>
              </a:rPr>
              <a:t> des tableaux (types des </a:t>
            </a:r>
            <a:r>
              <a:rPr lang="en-CA" sz="3200" b="1" dirty="0" err="1">
                <a:highlight>
                  <a:srgbClr val="FFFF00"/>
                </a:highlight>
              </a:rPr>
              <a:t>références</a:t>
            </a:r>
            <a:r>
              <a:rPr lang="en-CA" sz="3200" b="1" dirty="0"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5202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41D92-F7FD-A99F-3A09-BB556F1B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C0351C-82E1-A8D3-720F-6AE2F1154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54559"/>
              </p:ext>
            </p:extLst>
          </p:nvPr>
        </p:nvGraphicFramePr>
        <p:xfrm>
          <a:off x="1231271" y="3370704"/>
          <a:ext cx="2861691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61691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1F09B5-F2B3-FFDD-3F7A-354466F33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021958"/>
              </p:ext>
            </p:extLst>
          </p:nvPr>
        </p:nvGraphicFramePr>
        <p:xfrm>
          <a:off x="8007088" y="800384"/>
          <a:ext cx="3386593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702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1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16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171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12519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0D4FE6-4707-6CFA-4BFC-2956232035EC}"/>
              </a:ext>
            </a:extLst>
          </p:cNvPr>
          <p:cNvSpPr txBox="1"/>
          <p:nvPr/>
        </p:nvSpPr>
        <p:spPr>
          <a:xfrm>
            <a:off x="4061071" y="3833049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myArray1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1A2E75-2AEB-CE21-BC81-15E6926CA7B6}"/>
              </a:ext>
            </a:extLst>
          </p:cNvPr>
          <p:cNvSpPr txBox="1"/>
          <p:nvPr/>
        </p:nvSpPr>
        <p:spPr>
          <a:xfrm>
            <a:off x="8024639" y="1546562"/>
            <a:ext cx="3386592" cy="1138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9C64C-BCD0-4F50-EDAE-59D95FB82CE4}"/>
              </a:ext>
            </a:extLst>
          </p:cNvPr>
          <p:cNvSpPr txBox="1"/>
          <p:nvPr/>
        </p:nvSpPr>
        <p:spPr>
          <a:xfrm>
            <a:off x="11371162" y="1434788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5E12A5-2BC7-7934-3B62-A579480C1AC8}"/>
              </a:ext>
            </a:extLst>
          </p:cNvPr>
          <p:cNvCxnSpPr>
            <a:cxnSpLocks/>
          </p:cNvCxnSpPr>
          <p:nvPr/>
        </p:nvCxnSpPr>
        <p:spPr>
          <a:xfrm flipV="1">
            <a:off x="4106503" y="1546562"/>
            <a:ext cx="3926150" cy="2382809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FB5021-B988-3744-CCDC-9DED7039877B}"/>
              </a:ext>
            </a:extLst>
          </p:cNvPr>
          <p:cNvSpPr txBox="1"/>
          <p:nvPr/>
        </p:nvSpPr>
        <p:spPr>
          <a:xfrm>
            <a:off x="4118527" y="6098808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myArray2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E384B3-8AC1-9F9D-A273-FE64713CEA7B}"/>
              </a:ext>
            </a:extLst>
          </p:cNvPr>
          <p:cNvSpPr txBox="1"/>
          <p:nvPr/>
        </p:nvSpPr>
        <p:spPr>
          <a:xfrm>
            <a:off x="1229749" y="5944703"/>
            <a:ext cx="2880763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3F13C1-A4D6-19F3-B467-13D83E1220A3}"/>
              </a:ext>
            </a:extLst>
          </p:cNvPr>
          <p:cNvCxnSpPr>
            <a:cxnSpLocks/>
          </p:cNvCxnSpPr>
          <p:nvPr/>
        </p:nvCxnSpPr>
        <p:spPr>
          <a:xfrm flipV="1">
            <a:off x="4085454" y="3764564"/>
            <a:ext cx="3891102" cy="2180139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18F7673-2007-25BB-14B5-85A2BF3A203B}"/>
              </a:ext>
            </a:extLst>
          </p:cNvPr>
          <p:cNvSpPr txBox="1"/>
          <p:nvPr/>
        </p:nvSpPr>
        <p:spPr>
          <a:xfrm>
            <a:off x="11387190" y="3764564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649CB9-DF1D-92EC-FB21-DF77011EABCC}"/>
              </a:ext>
            </a:extLst>
          </p:cNvPr>
          <p:cNvSpPr txBox="1"/>
          <p:nvPr/>
        </p:nvSpPr>
        <p:spPr>
          <a:xfrm>
            <a:off x="1205706" y="3726347"/>
            <a:ext cx="2879748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BC32FB-CF33-9F9E-FB7D-1EC32FBB428A}"/>
              </a:ext>
            </a:extLst>
          </p:cNvPr>
          <p:cNvSpPr txBox="1"/>
          <p:nvPr/>
        </p:nvSpPr>
        <p:spPr>
          <a:xfrm>
            <a:off x="11411231" y="5261643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@3200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554FB-A271-4346-2A0F-C83482669BC5}"/>
              </a:ext>
            </a:extLst>
          </p:cNvPr>
          <p:cNvSpPr txBox="1"/>
          <p:nvPr/>
        </p:nvSpPr>
        <p:spPr>
          <a:xfrm>
            <a:off x="7984570" y="5269807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1A2F7C-E3D4-2645-CE35-156D84E7A49A}"/>
              </a:ext>
            </a:extLst>
          </p:cNvPr>
          <p:cNvSpPr txBox="1"/>
          <p:nvPr/>
        </p:nvSpPr>
        <p:spPr>
          <a:xfrm>
            <a:off x="11403217" y="6020472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@4000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CB07E3-8A7C-121F-D9DA-6756F6A05DF7}"/>
              </a:ext>
            </a:extLst>
          </p:cNvPr>
          <p:cNvSpPr txBox="1"/>
          <p:nvPr/>
        </p:nvSpPr>
        <p:spPr>
          <a:xfrm>
            <a:off x="8024639" y="6031766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0, Y=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FD6E7B-3729-C0D4-1E8C-82D7D0C57240}"/>
              </a:ext>
            </a:extLst>
          </p:cNvPr>
          <p:cNvSpPr txBox="1"/>
          <p:nvPr/>
        </p:nvSpPr>
        <p:spPr>
          <a:xfrm>
            <a:off x="11395203" y="3006149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@2500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4CE96D-A912-63C9-7D9A-0E5938DF952F}"/>
              </a:ext>
            </a:extLst>
          </p:cNvPr>
          <p:cNvSpPr txBox="1"/>
          <p:nvPr/>
        </p:nvSpPr>
        <p:spPr>
          <a:xfrm>
            <a:off x="8016625" y="3017443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0, Y=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14BA2A-418D-321F-4F06-691A16C2429C}"/>
              </a:ext>
            </a:extLst>
          </p:cNvPr>
          <p:cNvSpPr txBox="1"/>
          <p:nvPr/>
        </p:nvSpPr>
        <p:spPr>
          <a:xfrm>
            <a:off x="8000598" y="3766189"/>
            <a:ext cx="3386592" cy="1138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2AFF9-B17B-BF92-EDC5-ACDE251D1165}"/>
              </a:ext>
            </a:extLst>
          </p:cNvPr>
          <p:cNvSpPr txBox="1"/>
          <p:nvPr/>
        </p:nvSpPr>
        <p:spPr>
          <a:xfrm>
            <a:off x="169287" y="723161"/>
            <a:ext cx="55092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//</a:t>
            </a:r>
            <a:r>
              <a:rPr lang="fr-FR" sz="2400" b="1" dirty="0">
                <a:solidFill>
                  <a:srgbClr val="00B0F0"/>
                </a:solidFill>
              </a:rPr>
              <a:t>Réinitialisez les valeurs de myArray2</a:t>
            </a:r>
          </a:p>
          <a:p>
            <a:r>
              <a:rPr lang="nn-NO" sz="2400" b="1" dirty="0"/>
              <a:t>for (int i = 0;i &lt; </a:t>
            </a:r>
            <a:r>
              <a:rPr lang="nn-NO" sz="2400" b="1" dirty="0">
                <a:solidFill>
                  <a:srgbClr val="00B050"/>
                </a:solidFill>
              </a:rPr>
              <a:t>myArray2</a:t>
            </a:r>
            <a:r>
              <a:rPr lang="nn-NO" sz="2400" b="1" dirty="0"/>
              <a:t>.Length; i++)</a:t>
            </a:r>
          </a:p>
          <a:p>
            <a:r>
              <a:rPr lang="en-CA" sz="2400" b="1" dirty="0"/>
              <a:t>{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    	</a:t>
            </a:r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myArray2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].X = 0;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	</a:t>
            </a:r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myArray2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].Y = 0;</a:t>
            </a:r>
          </a:p>
          <a:p>
            <a:r>
              <a:rPr lang="en-CA" sz="2400" b="1" dirty="0"/>
              <a:t>}</a:t>
            </a:r>
          </a:p>
        </p:txBody>
      </p:sp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791BA99E-302D-84F5-016B-CC16FA78D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045" y="1619454"/>
            <a:ext cx="449360" cy="449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1E04DA-6801-6D14-C430-52D20F95C38D}"/>
              </a:ext>
            </a:extLst>
          </p:cNvPr>
          <p:cNvSpPr txBox="1"/>
          <p:nvPr/>
        </p:nvSpPr>
        <p:spPr>
          <a:xfrm>
            <a:off x="4025839" y="1608116"/>
            <a:ext cx="32506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//</a:t>
            </a:r>
            <a:r>
              <a:rPr lang="fr-FR" sz="2000" b="1" dirty="0">
                <a:solidFill>
                  <a:srgbClr val="FF0000"/>
                </a:solidFill>
              </a:rPr>
              <a:t>Les valeurs de myArray1 
sont réinitialisés </a:t>
            </a:r>
          </a:p>
          <a:p>
            <a:r>
              <a:rPr lang="fr-FR" sz="2000" b="1" dirty="0">
                <a:solidFill>
                  <a:srgbClr val="FF0000"/>
                </a:solidFill>
              </a:rPr>
              <a:t>accidentellement</a:t>
            </a:r>
            <a:endParaRPr lang="en-C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073F1-1B12-E0E3-82FD-0717F5D4BDB3}"/>
              </a:ext>
            </a:extLst>
          </p:cNvPr>
          <p:cNvSpPr txBox="1"/>
          <p:nvPr/>
        </p:nvSpPr>
        <p:spPr>
          <a:xfrm>
            <a:off x="1524863" y="53458"/>
            <a:ext cx="9995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 err="1">
                <a:highlight>
                  <a:srgbClr val="FFFF00"/>
                </a:highlight>
              </a:rPr>
              <a:t>Problème</a:t>
            </a:r>
            <a:r>
              <a:rPr lang="en-CA" sz="3200" b="1" dirty="0">
                <a:highlight>
                  <a:srgbClr val="FFFF00"/>
                </a:highlight>
              </a:rPr>
              <a:t>: </a:t>
            </a:r>
            <a:r>
              <a:rPr lang="en-CA" sz="3200" b="1" dirty="0" err="1">
                <a:highlight>
                  <a:srgbClr val="FFFF00"/>
                </a:highlight>
              </a:rPr>
              <a:t>Copie</a:t>
            </a:r>
            <a:r>
              <a:rPr lang="en-CA" sz="3200" b="1" dirty="0">
                <a:highlight>
                  <a:srgbClr val="FFFF00"/>
                </a:highlight>
              </a:rPr>
              <a:t> des tableaux (types des </a:t>
            </a:r>
            <a:r>
              <a:rPr lang="en-CA" sz="3200" b="1" dirty="0" err="1">
                <a:highlight>
                  <a:srgbClr val="FFFF00"/>
                </a:highlight>
              </a:rPr>
              <a:t>références</a:t>
            </a:r>
            <a:r>
              <a:rPr lang="en-CA" sz="3200" b="1" dirty="0"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795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78794-0166-8C8D-7FF1-32D26DD80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55BEC8-D96F-FCA1-B68E-541D68006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337446"/>
              </p:ext>
            </p:extLst>
          </p:nvPr>
        </p:nvGraphicFramePr>
        <p:xfrm>
          <a:off x="2370088" y="3191511"/>
          <a:ext cx="2813319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13319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F74121-BA5B-E5F8-D7E6-E279C07D0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801590"/>
              </p:ext>
            </p:extLst>
          </p:nvPr>
        </p:nvGraphicFramePr>
        <p:xfrm>
          <a:off x="8000732" y="187960"/>
          <a:ext cx="3386593" cy="667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702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1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16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587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735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171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12519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962D57-B304-6DA3-84AD-805CA2CABB75}"/>
              </a:ext>
            </a:extLst>
          </p:cNvPr>
          <p:cNvSpPr txBox="1"/>
          <p:nvPr/>
        </p:nvSpPr>
        <p:spPr>
          <a:xfrm>
            <a:off x="5141980" y="4034949"/>
            <a:ext cx="104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 err="1">
                <a:solidFill>
                  <a:srgbClr val="7030A0"/>
                </a:solidFill>
              </a:rPr>
              <a:t>myArray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2C4336-D2AF-107D-DCCB-24A63C32F3DE}"/>
              </a:ext>
            </a:extLst>
          </p:cNvPr>
          <p:cNvSpPr txBox="1"/>
          <p:nvPr/>
        </p:nvSpPr>
        <p:spPr>
          <a:xfrm>
            <a:off x="7992718" y="964773"/>
            <a:ext cx="3386592" cy="1138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1A05C-E01E-E622-0CBD-070D150CC783}"/>
              </a:ext>
            </a:extLst>
          </p:cNvPr>
          <p:cNvSpPr txBox="1"/>
          <p:nvPr/>
        </p:nvSpPr>
        <p:spPr>
          <a:xfrm>
            <a:off x="11419380" y="800065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CBF297-0E05-B92F-D101-88D2FAA674D1}"/>
              </a:ext>
            </a:extLst>
          </p:cNvPr>
          <p:cNvCxnSpPr>
            <a:cxnSpLocks/>
          </p:cNvCxnSpPr>
          <p:nvPr/>
        </p:nvCxnSpPr>
        <p:spPr>
          <a:xfrm flipV="1">
            <a:off x="5187412" y="1022613"/>
            <a:ext cx="2813320" cy="3108658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C6D7BB-F4AE-151E-AEC7-9140D12430F9}"/>
              </a:ext>
            </a:extLst>
          </p:cNvPr>
          <p:cNvSpPr txBox="1"/>
          <p:nvPr/>
        </p:nvSpPr>
        <p:spPr>
          <a:xfrm>
            <a:off x="5199436" y="6300708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myArray2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B6CAB0-DD65-7397-A783-2CA5CBB4BC9E}"/>
              </a:ext>
            </a:extLst>
          </p:cNvPr>
          <p:cNvSpPr txBox="1"/>
          <p:nvPr/>
        </p:nvSpPr>
        <p:spPr>
          <a:xfrm>
            <a:off x="2395146" y="6146603"/>
            <a:ext cx="2796275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FB30D4-5197-9603-F951-72016B202F58}"/>
              </a:ext>
            </a:extLst>
          </p:cNvPr>
          <p:cNvCxnSpPr>
            <a:cxnSpLocks/>
          </p:cNvCxnSpPr>
          <p:nvPr/>
        </p:nvCxnSpPr>
        <p:spPr>
          <a:xfrm flipV="1">
            <a:off x="5149321" y="3130624"/>
            <a:ext cx="2811339" cy="3199994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3DA38B-2D3C-C20A-D47C-A95F619662CE}"/>
              </a:ext>
            </a:extLst>
          </p:cNvPr>
          <p:cNvSpPr txBox="1"/>
          <p:nvPr/>
        </p:nvSpPr>
        <p:spPr>
          <a:xfrm>
            <a:off x="11403352" y="3008719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CF0F9-88EE-7563-F760-BEB3CB3CB758}"/>
              </a:ext>
            </a:extLst>
          </p:cNvPr>
          <p:cNvSpPr txBox="1"/>
          <p:nvPr/>
        </p:nvSpPr>
        <p:spPr>
          <a:xfrm>
            <a:off x="2370088" y="3928247"/>
            <a:ext cx="2796275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8A0486-9F4B-5595-8491-14B675C0E47F}"/>
              </a:ext>
            </a:extLst>
          </p:cNvPr>
          <p:cNvSpPr txBox="1"/>
          <p:nvPr/>
        </p:nvSpPr>
        <p:spPr>
          <a:xfrm>
            <a:off x="11379310" y="4629054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@3200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8745F-174F-C387-4E7C-6E0E6C4C150C}"/>
              </a:ext>
            </a:extLst>
          </p:cNvPr>
          <p:cNvSpPr txBox="1"/>
          <p:nvPr/>
        </p:nvSpPr>
        <p:spPr>
          <a:xfrm>
            <a:off x="8008747" y="4628573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1D2AA3-37AD-58CC-1E4E-20E4720F13EF}"/>
              </a:ext>
            </a:extLst>
          </p:cNvPr>
          <p:cNvSpPr txBox="1"/>
          <p:nvPr/>
        </p:nvSpPr>
        <p:spPr>
          <a:xfrm>
            <a:off x="11395337" y="5333295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@4000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5B1550-BF05-A87C-DEB0-C83BC0FA5003}"/>
              </a:ext>
            </a:extLst>
          </p:cNvPr>
          <p:cNvSpPr txBox="1"/>
          <p:nvPr/>
        </p:nvSpPr>
        <p:spPr>
          <a:xfrm>
            <a:off x="7992718" y="5399177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1, Y=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A67F2C-F498-BA96-924B-12509DC7F5C0}"/>
              </a:ext>
            </a:extLst>
          </p:cNvPr>
          <p:cNvSpPr txBox="1"/>
          <p:nvPr/>
        </p:nvSpPr>
        <p:spPr>
          <a:xfrm>
            <a:off x="11363282" y="2373560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@2500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F1C262-A4AE-9254-2FE8-6CE236F0217F}"/>
              </a:ext>
            </a:extLst>
          </p:cNvPr>
          <p:cNvSpPr txBox="1"/>
          <p:nvPr/>
        </p:nvSpPr>
        <p:spPr>
          <a:xfrm>
            <a:off x="7984704" y="2384854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2, Y=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B5EB74-5940-720A-0FF1-774D66F3B17D}"/>
              </a:ext>
            </a:extLst>
          </p:cNvPr>
          <p:cNvSpPr txBox="1"/>
          <p:nvPr/>
        </p:nvSpPr>
        <p:spPr>
          <a:xfrm>
            <a:off x="7968677" y="3133600"/>
            <a:ext cx="3386592" cy="1138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@4200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@4500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4A318-C1C3-CC97-E086-FED1CD65E804}"/>
              </a:ext>
            </a:extLst>
          </p:cNvPr>
          <p:cNvSpPr txBox="1"/>
          <p:nvPr/>
        </p:nvSpPr>
        <p:spPr>
          <a:xfrm>
            <a:off x="11419379" y="497067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13C0A-A881-0200-0A06-0FB7F5205DEF}"/>
              </a:ext>
            </a:extLst>
          </p:cNvPr>
          <p:cNvSpPr txBox="1"/>
          <p:nvPr/>
        </p:nvSpPr>
        <p:spPr>
          <a:xfrm>
            <a:off x="7992718" y="538109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9EFD1-07EA-48EC-E5FE-923C0FF37335}"/>
              </a:ext>
            </a:extLst>
          </p:cNvPr>
          <p:cNvSpPr txBox="1"/>
          <p:nvPr/>
        </p:nvSpPr>
        <p:spPr>
          <a:xfrm>
            <a:off x="7984703" y="5763617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1, Y=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AD123-4337-C5FD-C1FF-5D358F8BDB37}"/>
              </a:ext>
            </a:extLst>
          </p:cNvPr>
          <p:cNvSpPr txBox="1"/>
          <p:nvPr/>
        </p:nvSpPr>
        <p:spPr>
          <a:xfrm>
            <a:off x="11375303" y="5743527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@4200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A4C79C-C6B2-39FB-9851-F0C22824F6F0}"/>
              </a:ext>
            </a:extLst>
          </p:cNvPr>
          <p:cNvSpPr txBox="1"/>
          <p:nvPr/>
        </p:nvSpPr>
        <p:spPr>
          <a:xfrm>
            <a:off x="7976690" y="6101331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2, Y=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2C117F-E414-5FF1-FB9D-6DC4F11F8381}"/>
              </a:ext>
            </a:extLst>
          </p:cNvPr>
          <p:cNvSpPr txBox="1"/>
          <p:nvPr/>
        </p:nvSpPr>
        <p:spPr>
          <a:xfrm>
            <a:off x="11367288" y="6129146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@4500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7A406-FAB9-1BAF-5C4F-3D3BF8916911}"/>
              </a:ext>
            </a:extLst>
          </p:cNvPr>
          <p:cNvSpPr txBox="1"/>
          <p:nvPr/>
        </p:nvSpPr>
        <p:spPr>
          <a:xfrm>
            <a:off x="207387" y="818246"/>
            <a:ext cx="63153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[] </a:t>
            </a:r>
            <a:r>
              <a:rPr lang="en-US" sz="2400" b="1" dirty="0">
                <a:solidFill>
                  <a:srgbClr val="00B050"/>
                </a:solidFill>
              </a:rPr>
              <a:t>myArray2</a:t>
            </a:r>
            <a:r>
              <a:rPr lang="en-US" sz="2400" b="1" dirty="0"/>
              <a:t> = </a:t>
            </a:r>
            <a:r>
              <a:rPr lang="en-US" sz="2400" b="1" dirty="0">
                <a:solidFill>
                  <a:srgbClr val="7030A0"/>
                </a:solidFill>
              </a:rPr>
              <a:t>new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Coordinate</a:t>
            </a:r>
            <a:r>
              <a:rPr lang="en-US" sz="2400" b="1" dirty="0"/>
              <a:t>[</a:t>
            </a:r>
            <a:r>
              <a:rPr lang="en-US" sz="2400" b="1" dirty="0">
                <a:solidFill>
                  <a:srgbClr val="FF0000"/>
                </a:solidFill>
              </a:rPr>
              <a:t>3</a:t>
            </a:r>
            <a:r>
              <a:rPr lang="en-US" sz="2400" b="1" dirty="0"/>
              <a:t>];</a:t>
            </a:r>
          </a:p>
          <a:p>
            <a:r>
              <a:rPr lang="nn-NO" sz="2400" b="1" dirty="0"/>
              <a:t>for (int i = 0;i &lt; </a:t>
            </a:r>
            <a:r>
              <a:rPr lang="nn-NO" sz="2400" b="1" dirty="0">
                <a:solidFill>
                  <a:srgbClr val="00B050"/>
                </a:solidFill>
              </a:rPr>
              <a:t>myArray2</a:t>
            </a:r>
            <a:r>
              <a:rPr lang="nn-NO" sz="2400" b="1" dirty="0"/>
              <a:t>.Length; i++)</a:t>
            </a:r>
          </a:p>
          <a:p>
            <a:r>
              <a:rPr lang="en-CA" sz="2400" b="1" dirty="0"/>
              <a:t>{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    	</a:t>
            </a:r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myArray2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 = myArray1[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].</a:t>
            </a:r>
            <a:r>
              <a:rPr lang="en-US" sz="2400" b="1" dirty="0">
                <a:highlight>
                  <a:srgbClr val="00FFFF"/>
                </a:highlight>
              </a:rPr>
              <a:t>Clone( );</a:t>
            </a:r>
          </a:p>
          <a:p>
            <a:r>
              <a:rPr lang="en-CA" sz="2400" b="1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B66194-24A5-B8A4-8F83-B1AF5C0A6236}"/>
              </a:ext>
            </a:extLst>
          </p:cNvPr>
          <p:cNvSpPr txBox="1"/>
          <p:nvPr/>
        </p:nvSpPr>
        <p:spPr>
          <a:xfrm>
            <a:off x="387372" y="-157020"/>
            <a:ext cx="538153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>
              <a:highlight>
                <a:srgbClr val="00FFFF"/>
              </a:highlight>
            </a:endParaRPr>
          </a:p>
          <a:p>
            <a:r>
              <a:rPr lang="en-CA" sz="2800" b="1" dirty="0">
                <a:highlight>
                  <a:srgbClr val="00FFFF"/>
                </a:highlight>
              </a:rPr>
              <a:t>Solution: Clonage des </a:t>
            </a:r>
            <a:r>
              <a:rPr lang="en-CA" sz="2800" b="1" dirty="0" err="1">
                <a:highlight>
                  <a:srgbClr val="00FFFF"/>
                </a:highlight>
              </a:rPr>
              <a:t>éléments</a:t>
            </a:r>
            <a:endParaRPr lang="en-CA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95064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1BA8-D89D-4B2F-B6B9-BC1DF63C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D6DBF0-AC22-ECAB-1583-AE6A170E0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949716"/>
              </p:ext>
            </p:extLst>
          </p:nvPr>
        </p:nvGraphicFramePr>
        <p:xfrm>
          <a:off x="2281474" y="3191511"/>
          <a:ext cx="2901934" cy="3327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01934">
                  <a:extLst>
                    <a:ext uri="{9D8B030D-6E8A-4147-A177-3AD203B41FA5}">
                      <a16:colId xmlns:a16="http://schemas.microsoft.com/office/drawing/2014/main" val="1101742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dirty="0"/>
                        <a:t>MÉMOIRE DE PILE (Stack)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7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6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73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69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29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4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18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49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6A0B66-70F2-1559-5EDC-C9751FAA8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879206"/>
              </p:ext>
            </p:extLst>
          </p:nvPr>
        </p:nvGraphicFramePr>
        <p:xfrm>
          <a:off x="8000732" y="187960"/>
          <a:ext cx="3386593" cy="667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593">
                  <a:extLst>
                    <a:ext uri="{9D8B030D-6E8A-4147-A177-3AD203B41FA5}">
                      <a16:colId xmlns:a16="http://schemas.microsoft.com/office/drawing/2014/main" val="61511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MÉMOIRE DE TAS (Heap)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698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29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903689"/>
                  </a:ext>
                </a:extLst>
              </a:tr>
              <a:tr h="29469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4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0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11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362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539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702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198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10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1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16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587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735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171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12519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431022-3E1D-BDCC-F998-931CB99AE00D}"/>
              </a:ext>
            </a:extLst>
          </p:cNvPr>
          <p:cNvSpPr txBox="1"/>
          <p:nvPr/>
        </p:nvSpPr>
        <p:spPr>
          <a:xfrm>
            <a:off x="5141980" y="4034949"/>
            <a:ext cx="104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 err="1">
                <a:solidFill>
                  <a:srgbClr val="7030A0"/>
                </a:solidFill>
              </a:rPr>
              <a:t>myArray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3BDA5-759E-67CB-CA4D-0912B93AB9DA}"/>
              </a:ext>
            </a:extLst>
          </p:cNvPr>
          <p:cNvSpPr txBox="1"/>
          <p:nvPr/>
        </p:nvSpPr>
        <p:spPr>
          <a:xfrm>
            <a:off x="7992718" y="964773"/>
            <a:ext cx="3386592" cy="1138773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@3200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@4000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@2500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B5493-2B0F-AF53-2D35-F77CB8CA6681}"/>
              </a:ext>
            </a:extLst>
          </p:cNvPr>
          <p:cNvSpPr txBox="1"/>
          <p:nvPr/>
        </p:nvSpPr>
        <p:spPr>
          <a:xfrm>
            <a:off x="11419380" y="800065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DB3DC2-A8C8-0906-BABF-C414D2A2C80F}"/>
              </a:ext>
            </a:extLst>
          </p:cNvPr>
          <p:cNvCxnSpPr>
            <a:cxnSpLocks/>
          </p:cNvCxnSpPr>
          <p:nvPr/>
        </p:nvCxnSpPr>
        <p:spPr>
          <a:xfrm flipV="1">
            <a:off x="5187412" y="3541604"/>
            <a:ext cx="2975009" cy="589667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A6D6577-E229-2B06-8AA2-E2BECB4FC266}"/>
              </a:ext>
            </a:extLst>
          </p:cNvPr>
          <p:cNvSpPr txBox="1"/>
          <p:nvPr/>
        </p:nvSpPr>
        <p:spPr>
          <a:xfrm>
            <a:off x="5199436" y="6300708"/>
            <a:ext cx="11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myArray2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B2D7E-A4F3-7762-354B-824780DD5E5B}"/>
              </a:ext>
            </a:extLst>
          </p:cNvPr>
          <p:cNvSpPr txBox="1"/>
          <p:nvPr/>
        </p:nvSpPr>
        <p:spPr>
          <a:xfrm>
            <a:off x="2306532" y="6146603"/>
            <a:ext cx="288488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78799D-50FB-80FE-5888-896678653EBA}"/>
              </a:ext>
            </a:extLst>
          </p:cNvPr>
          <p:cNvCxnSpPr>
            <a:cxnSpLocks/>
          </p:cNvCxnSpPr>
          <p:nvPr/>
        </p:nvCxnSpPr>
        <p:spPr>
          <a:xfrm flipV="1">
            <a:off x="5149321" y="5807181"/>
            <a:ext cx="3005083" cy="52343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4AB805A-8E0D-535E-36CE-7C7C2CAADB83}"/>
              </a:ext>
            </a:extLst>
          </p:cNvPr>
          <p:cNvSpPr txBox="1"/>
          <p:nvPr/>
        </p:nvSpPr>
        <p:spPr>
          <a:xfrm>
            <a:off x="11403352" y="3008719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030A0"/>
                </a:solidFill>
              </a:rPr>
              <a:t>@3000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32A507-6E90-6036-92D6-F64BAF359584}"/>
              </a:ext>
            </a:extLst>
          </p:cNvPr>
          <p:cNvSpPr txBox="1"/>
          <p:nvPr/>
        </p:nvSpPr>
        <p:spPr>
          <a:xfrm>
            <a:off x="2281474" y="3928247"/>
            <a:ext cx="288488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solidFill>
                  <a:srgbClr val="7030A0"/>
                </a:solidFill>
              </a:rPr>
              <a:t>@500</a:t>
            </a:r>
            <a:endParaRPr lang="en-CA" b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FA443A-490D-C2C0-0F85-EE386E8E0AC0}"/>
              </a:ext>
            </a:extLst>
          </p:cNvPr>
          <p:cNvSpPr txBox="1"/>
          <p:nvPr/>
        </p:nvSpPr>
        <p:spPr>
          <a:xfrm>
            <a:off x="11379310" y="4629054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@3200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C41FBC-FDAD-5DE3-543B-EF89B6CE0715}"/>
              </a:ext>
            </a:extLst>
          </p:cNvPr>
          <p:cNvSpPr txBox="1"/>
          <p:nvPr/>
        </p:nvSpPr>
        <p:spPr>
          <a:xfrm>
            <a:off x="7952649" y="4637218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DD7524-2EFD-9891-21F0-0FE52D4BB8AF}"/>
              </a:ext>
            </a:extLst>
          </p:cNvPr>
          <p:cNvSpPr txBox="1"/>
          <p:nvPr/>
        </p:nvSpPr>
        <p:spPr>
          <a:xfrm>
            <a:off x="11395337" y="5333295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@4000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781DA4-EF1D-310A-56E7-9B5DF7466A75}"/>
              </a:ext>
            </a:extLst>
          </p:cNvPr>
          <p:cNvSpPr txBox="1"/>
          <p:nvPr/>
        </p:nvSpPr>
        <p:spPr>
          <a:xfrm>
            <a:off x="7992718" y="5399177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1, Y=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F0E2CA-68C4-0FB7-75AC-E952A8BCA25B}"/>
              </a:ext>
            </a:extLst>
          </p:cNvPr>
          <p:cNvSpPr txBox="1"/>
          <p:nvPr/>
        </p:nvSpPr>
        <p:spPr>
          <a:xfrm>
            <a:off x="11363282" y="2373560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@2500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B4490F-EBC2-74FF-922F-0BD2DD523A9C}"/>
              </a:ext>
            </a:extLst>
          </p:cNvPr>
          <p:cNvSpPr txBox="1"/>
          <p:nvPr/>
        </p:nvSpPr>
        <p:spPr>
          <a:xfrm>
            <a:off x="7984704" y="2384854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2, Y=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B1C2E9-0800-E164-47D0-FA3954A4D68D}"/>
              </a:ext>
            </a:extLst>
          </p:cNvPr>
          <p:cNvSpPr txBox="1"/>
          <p:nvPr/>
        </p:nvSpPr>
        <p:spPr>
          <a:xfrm>
            <a:off x="7968677" y="3133600"/>
            <a:ext cx="3386592" cy="11387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@200</a:t>
            </a:r>
            <a:endParaRPr lang="en-CA" b="1" dirty="0">
              <a:highlight>
                <a:srgbClr val="FFFF00"/>
              </a:highlight>
            </a:endParaRP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FF"/>
                </a:highlight>
              </a:rPr>
              <a:t>@4200</a:t>
            </a:r>
          </a:p>
          <a:p>
            <a:pPr algn="ctr"/>
            <a:endParaRPr lang="fr-CA" sz="700" b="1" dirty="0"/>
          </a:p>
          <a:p>
            <a:pPr algn="ctr"/>
            <a:r>
              <a:rPr lang="fr-CA" b="1" dirty="0">
                <a:highlight>
                  <a:srgbClr val="00FF00"/>
                </a:highlight>
              </a:rPr>
              <a:t>@4500</a:t>
            </a:r>
            <a:endParaRPr lang="en-CA" b="1" dirty="0">
              <a:highlight>
                <a:srgbClr val="00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B6A51A-3B52-E604-CF2F-A98BBE90639A}"/>
              </a:ext>
            </a:extLst>
          </p:cNvPr>
          <p:cNvSpPr txBox="1"/>
          <p:nvPr/>
        </p:nvSpPr>
        <p:spPr>
          <a:xfrm>
            <a:off x="11419379" y="497067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FFC000"/>
                </a:solidFill>
              </a:rPr>
              <a:t>@200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EFD54-22DA-C4BF-F0FE-8DD61415962A}"/>
              </a:ext>
            </a:extLst>
          </p:cNvPr>
          <p:cNvSpPr txBox="1"/>
          <p:nvPr/>
        </p:nvSpPr>
        <p:spPr>
          <a:xfrm>
            <a:off x="7992718" y="538109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FFFF00"/>
                </a:highlight>
              </a:rPr>
              <a:t>X = 0, Y=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FFB15-A955-C6CE-A485-19D8422DA6FD}"/>
              </a:ext>
            </a:extLst>
          </p:cNvPr>
          <p:cNvSpPr txBox="1"/>
          <p:nvPr/>
        </p:nvSpPr>
        <p:spPr>
          <a:xfrm>
            <a:off x="7984703" y="5763617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FF"/>
                </a:highlight>
              </a:rPr>
              <a:t>X = 0, Y=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A9A7A-2CE2-E19E-C58D-BA8920052305}"/>
              </a:ext>
            </a:extLst>
          </p:cNvPr>
          <p:cNvSpPr txBox="1"/>
          <p:nvPr/>
        </p:nvSpPr>
        <p:spPr>
          <a:xfrm>
            <a:off x="11375303" y="5743527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F0"/>
                </a:solidFill>
              </a:rPr>
              <a:t>@4200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CF472D-A17E-9494-667E-4058298053F7}"/>
              </a:ext>
            </a:extLst>
          </p:cNvPr>
          <p:cNvSpPr txBox="1"/>
          <p:nvPr/>
        </p:nvSpPr>
        <p:spPr>
          <a:xfrm>
            <a:off x="7976690" y="6101331"/>
            <a:ext cx="3386592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A" b="1" dirty="0">
                <a:highlight>
                  <a:srgbClr val="00FF00"/>
                </a:highlight>
              </a:rPr>
              <a:t>X = 0, Y=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61E06A-6417-EF31-39FC-2949DED59056}"/>
              </a:ext>
            </a:extLst>
          </p:cNvPr>
          <p:cNvSpPr txBox="1"/>
          <p:nvPr/>
        </p:nvSpPr>
        <p:spPr>
          <a:xfrm>
            <a:off x="11367288" y="6129146"/>
            <a:ext cx="9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00B050"/>
                </a:solidFill>
              </a:rPr>
              <a:t>@4500</a:t>
            </a:r>
            <a:endParaRPr lang="en-CA" b="1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9C510-E47F-0C42-89E2-02D25FB88D89}"/>
              </a:ext>
            </a:extLst>
          </p:cNvPr>
          <p:cNvSpPr txBox="1"/>
          <p:nvPr/>
        </p:nvSpPr>
        <p:spPr>
          <a:xfrm>
            <a:off x="169287" y="723161"/>
            <a:ext cx="55092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//</a:t>
            </a:r>
            <a:r>
              <a:rPr lang="fr-FR" sz="2400" b="1" dirty="0">
                <a:solidFill>
                  <a:srgbClr val="00B0F0"/>
                </a:solidFill>
              </a:rPr>
              <a:t>Réinitialisez les valeurs de myArray2</a:t>
            </a:r>
          </a:p>
          <a:p>
            <a:r>
              <a:rPr lang="nn-NO" sz="2400" b="1" dirty="0"/>
              <a:t>for (int i = 0;i &lt; myArray2.Length; i++)</a:t>
            </a:r>
          </a:p>
          <a:p>
            <a:r>
              <a:rPr lang="en-CA" sz="2400" b="1" dirty="0"/>
              <a:t>{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    	myArray2[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].X = 0;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	myArray2[</a:t>
            </a:r>
            <a:r>
              <a:rPr lang="en-US" sz="2400" b="1" dirty="0" err="1">
                <a:highlight>
                  <a:srgbClr val="FFFF00"/>
                </a:highlight>
              </a:rPr>
              <a:t>i</a:t>
            </a:r>
            <a:r>
              <a:rPr lang="en-US" sz="2400" b="1" dirty="0">
                <a:highlight>
                  <a:srgbClr val="FFFF00"/>
                </a:highlight>
              </a:rPr>
              <a:t>].Y = 0;</a:t>
            </a:r>
          </a:p>
          <a:p>
            <a:r>
              <a:rPr lang="en-CA" sz="2400" b="1" dirty="0"/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157C5-A949-6E75-F5AD-FDEA2F53CBAE}"/>
              </a:ext>
            </a:extLst>
          </p:cNvPr>
          <p:cNvSpPr txBox="1"/>
          <p:nvPr/>
        </p:nvSpPr>
        <p:spPr>
          <a:xfrm>
            <a:off x="4398679" y="1988072"/>
            <a:ext cx="3250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//</a:t>
            </a:r>
            <a:r>
              <a:rPr lang="fr-FR" sz="2000" b="1" dirty="0">
                <a:solidFill>
                  <a:srgbClr val="00B050"/>
                </a:solidFill>
              </a:rPr>
              <a:t>Les valeurs de myArray1 
ne changent pas </a:t>
            </a:r>
            <a:endParaRPr lang="en-CA" sz="2000" dirty="0"/>
          </a:p>
        </p:txBody>
      </p:sp>
      <p:pic>
        <p:nvPicPr>
          <p:cNvPr id="22" name="Graphic 21" descr="Comment Like with solid fill">
            <a:extLst>
              <a:ext uri="{FF2B5EF4-FFF2-40B4-BE49-F238E27FC236}">
                <a16:creationId xmlns:a16="http://schemas.microsoft.com/office/drawing/2014/main" id="{27C696E4-80DF-E30D-18CA-D39A2699E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4470" y="1503122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04D5773-210F-50DD-6A53-CAC5BF4559E3}"/>
              </a:ext>
            </a:extLst>
          </p:cNvPr>
          <p:cNvSpPr txBox="1"/>
          <p:nvPr/>
        </p:nvSpPr>
        <p:spPr>
          <a:xfrm>
            <a:off x="387372" y="-157020"/>
            <a:ext cx="538153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>
              <a:highlight>
                <a:srgbClr val="00FFFF"/>
              </a:highlight>
            </a:endParaRPr>
          </a:p>
          <a:p>
            <a:r>
              <a:rPr lang="en-CA" sz="2800" b="1" dirty="0">
                <a:highlight>
                  <a:srgbClr val="00FFFF"/>
                </a:highlight>
              </a:rPr>
              <a:t>Solution: Clonage des </a:t>
            </a:r>
            <a:r>
              <a:rPr lang="en-CA" sz="2800" b="1" dirty="0" err="1">
                <a:highlight>
                  <a:srgbClr val="00FFFF"/>
                </a:highlight>
              </a:rPr>
              <a:t>éléments</a:t>
            </a:r>
            <a:endParaRPr lang="en-CA" sz="28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5023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BE46836-826C-04AF-2F2F-09B1433382EB}"/>
              </a:ext>
            </a:extLst>
          </p:cNvPr>
          <p:cNvGrpSpPr/>
          <p:nvPr/>
        </p:nvGrpSpPr>
        <p:grpSpPr>
          <a:xfrm>
            <a:off x="0" y="0"/>
            <a:ext cx="12192000" cy="2636838"/>
            <a:chOff x="0" y="0"/>
            <a:chExt cx="12192000" cy="26368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6FF45F3-4245-69ED-F149-0D8E6E335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2636838"/>
            </a:xfrm>
            <a:prstGeom prst="rect">
              <a:avLst/>
            </a:prstGeom>
            <a:gradFill rotWithShape="1">
              <a:gsLst>
                <a:gs pos="0">
                  <a:srgbClr val="2850A0">
                    <a:alpha val="75000"/>
                  </a:srgb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fr-FR" altLang="en-US"/>
            </a:p>
          </p:txBody>
        </p:sp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13E4CE73-EA87-F2F0-9EF2-F531CDCF0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76250"/>
              <a:ext cx="12192000" cy="803275"/>
            </a:xfrm>
            <a:prstGeom prst="rect">
              <a:avLst/>
            </a:prstGeom>
            <a:gradFill rotWithShape="1">
              <a:gsLst>
                <a:gs pos="0">
                  <a:srgbClr val="30425E"/>
                </a:gs>
                <a:gs pos="50000">
                  <a:srgbClr val="688FCC"/>
                </a:gs>
                <a:gs pos="100000">
                  <a:srgbClr val="30425E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en-US"/>
            </a:p>
          </p:txBody>
        </p:sp>
      </p:grpSp>
      <p:sp>
        <p:nvSpPr>
          <p:cNvPr id="34818" name="Titre 1">
            <a:extLst>
              <a:ext uri="{FF2B5EF4-FFF2-40B4-BE49-F238E27FC236}">
                <a16:creationId xmlns:a16="http://schemas.microsoft.com/office/drawing/2014/main" id="{438E67AA-EB83-D530-40AE-88CACD713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6876" y="274638"/>
            <a:ext cx="8543925" cy="1143000"/>
          </a:xfrm>
        </p:spPr>
        <p:txBody>
          <a:bodyPr/>
          <a:lstStyle/>
          <a:p>
            <a:pPr algn="ctr"/>
            <a:r>
              <a:rPr lang="en-CA" altLang="en-US" b="1" dirty="0">
                <a:solidFill>
                  <a:schemeClr val="bg1"/>
                </a:solidFill>
              </a:rPr>
              <a:t>Questions ?</a:t>
            </a:r>
            <a:endParaRPr altLang="en-US" b="1" dirty="0">
              <a:solidFill>
                <a:schemeClr val="bg1"/>
              </a:solidFill>
            </a:endParaRPr>
          </a:p>
        </p:txBody>
      </p:sp>
      <p:pic>
        <p:nvPicPr>
          <p:cNvPr id="34819" name="Image 8" descr="CLIPART_OF_10925_SM_2.jpg">
            <a:extLst>
              <a:ext uri="{FF2B5EF4-FFF2-40B4-BE49-F238E27FC236}">
                <a16:creationId xmlns:a16="http://schemas.microsoft.com/office/drawing/2014/main" id="{63F7BACA-D65F-6DD2-3B06-A85B7166A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2392363"/>
            <a:ext cx="31432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1343</Words>
  <Application>Microsoft Office PowerPoint</Application>
  <PresentationFormat>Widescreen</PresentationFormat>
  <Paragraphs>377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Salima Hassaine</dc:creator>
  <cp:lastModifiedBy>Salima Hassaine</cp:lastModifiedBy>
  <cp:revision>20</cp:revision>
  <dcterms:created xsi:type="dcterms:W3CDTF">2025-09-02T21:26:29Z</dcterms:created>
  <dcterms:modified xsi:type="dcterms:W3CDTF">2026-02-05T23:58:05Z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2026-01-27T21:38:06Z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40658344-eb26-4889-a66f-bd0a8defabb5</vt:lpwstr>
  </property>
  <property fmtid="{D5CDD505-2E9C-101B-9397-08002B2CF9AE}" pid="8" name="MSIP_Label_cdde0556-1f76-452e-9e94-03158f226e4e_ContentBits">
    <vt:lpwstr>0</vt:lpwstr>
  </property>
  <property fmtid="{D5CDD505-2E9C-101B-9397-08002B2CF9AE}" pid="9" name="MSIP_Label_cdde0556-1f76-452e-9e94-03158f226e4e_Tag">
    <vt:lpwstr>10, 3, 0, 1</vt:lpwstr>
  </property>
</Properties>
</file>